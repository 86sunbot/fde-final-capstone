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00:00 - 02:00 | 2 Minutes]</a:t>
            </a:r>
          </a:p>
          <a:p>
            <a:r>
              <a:t>SPEAKER SCRIPT:</a:t>
            </a:r>
          </a:p>
          <a:p>
            <a:r>
              <a:t>"Good morning, members of the steering committee and evaluation board. Welcome to our final capstone defense for the Cell and Gene Therapy Patient-to-Batch Orchestration Engine.</a:t>
            </a:r>
          </a:p>
          <a:p/>
          <a:p>
            <a:r>
              <a:t>Over the next 40 minutes, we will walk you through how we addressed one of the most critical challenges in biopharma today: orchestrating the vein-to-vein chain of identity and chain of custody for autologous living therapies. </a:t>
            </a:r>
          </a:p>
          <a:p/>
          <a:p>
            <a:r>
              <a:t>Unlike traditional pharmaceuticals, in autologous CGT, the patient is both the source of the starting material and the recipient of the manufactured batch. A single identity mismatch, an unverified temperature excursion, or an automated release without explicit Quality sign-off can be fatal.</a:t>
            </a:r>
          </a:p>
          <a:p/>
          <a:p>
            <a:r>
              <a:t>Today, we will present our full 21-stage Forward Deployed Engineering journey, walk through our 120-second master demonstration video, dive into the three foundational proof-of-concept controls, explore our centralized 800-patient operations dashboard, and present our rigorous, honest G6 lifecycle decision: Restrict and Change. Let's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02:00 - 04:00 | 2 Minutes]</a:t>
            </a:r>
          </a:p>
          <a:p>
            <a:r>
              <a:t>SPEAKER SCRIPT:</a:t>
            </a:r>
          </a:p>
          <a:p>
            <a:r>
              <a:t>"To understand why this capstone exists, we must understand why autologous cell therapy breaks traditional enterprise software.</a:t>
            </a:r>
          </a:p>
          <a:p/>
          <a:p>
            <a:r>
              <a:t>In standard small-molecule or biologics manufacturing, you produce 100,000 vials in a single validated run. If a vial breaks, you discard it. In autologous CAR-T therapy, the batch size is exactly one. The patient's blood is drawn at the clinic, shipped in liquid nitrogen dry vapor shippers at minus 150 degrees Celsius to a CDMO, engineered, expanded, quality-tested, shipped back, and infused into the very same human being.</a:t>
            </a:r>
          </a:p>
          <a:p/>
          <a:p>
            <a:r>
              <a:t>If patient A receives patient B's engineered cells, the result is fatal graft-versus-host disease. If a manufacturing slot reservation is lost over a network glitch and blindly retried, a quarter-million-dollar cleanroom is double-booked. And if an enterprise ERP marks a batch 'shipped' before the Quality Authority signs off on deviations, that drug enters a clinic illegally under FDA 21 CFR Part 11.</a:t>
            </a:r>
          </a:p>
          <a:p/>
          <a:p>
            <a:r>
              <a:t>Our mission was to engineer an authoritative orchestration layer that makes every transition evidence-driven, tamper-evident,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04:00 - 06:00 | 2 Minutes]</a:t>
            </a:r>
          </a:p>
          <a:p>
            <a:r>
              <a:t>SPEAKER SCRIPT:</a:t>
            </a:r>
          </a:p>
          <a:p>
            <a:r>
              <a:t>"When we arrived at the brownfield baseline, we found four completely disconnected software siloes.</a:t>
            </a:r>
          </a:p>
          <a:p/>
          <a:p>
            <a:r>
              <a:t>On the left, clinical sites run EDC and CRM systems that record patient enrollment, consents, and hospital medical record numbers. In the middle, cryogenic logistics partners track cryogenic shippers with IoT temperature sensors. Downstream, CDMOs run Manufacturing Execution Systems that monitor bioreactors and cell viability. And at headquarters, Quality teams track deviations in corporate QMS platforms.</a:t>
            </a:r>
          </a:p>
          <a:p/>
          <a:p>
            <a:r>
              <a:t>The problem? None of these systems talk to one another deterministically. When an identity conflict occurs between a clinic record and an apheresis bag, systems try to 'guess' or merge records. When a cryogenic shipment experiences a 15-minute thermal excursion at customs, the clinic schedules patient lymphodepletion anyway because they assume 'In Transit' means 'On Schedule'.</a:t>
            </a:r>
          </a:p>
          <a:p/>
          <a:p>
            <a:r>
              <a:t>This fragmentation is not merely an IT inefficiency; it is an existential patient safety hazard."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06:00 - 08:00 | 2 Minutes]</a:t>
            </a:r>
          </a:p>
          <a:p>
            <a:r>
              <a:t>SPEAKER SCRIPT:</a:t>
            </a:r>
          </a:p>
          <a:p>
            <a:r>
              <a:t>"To make our engineering concrete, we mapped these risks into three primary hazard vectors that formed the core of our technical requirements:</a:t>
            </a:r>
          </a:p>
          <a:p/>
          <a:p>
            <a:r>
              <a:t>First, Identity Mismatch. If an orchestrator auto-resolves a conflicting MRN or DOB because the names look similar, you risk infusing the wrong cells. The system must never guess; it must fail closed and demand explicit human adjudication.</a:t>
            </a:r>
          </a:p>
          <a:p/>
          <a:p>
            <a:r>
              <a:t>Second, Blind Retries on Slot Orchestration. In enterprise integrations, timeouts happen constantly. If an orchestrator treats a timeout as a failure and retries blindly, it can dispatch multiple reservation commands for the same patient, wasting quarter-million-dollar manufacturing slots and throwing the entire commercial schedule into disarray.</a:t>
            </a:r>
          </a:p>
          <a:p/>
          <a:p>
            <a:r>
              <a:t>Third, Premature Quality Release. Software often conflates 'Manufacturing Done' with 'Drug Released'. If software auto-releases a batch while an open equipment alarm deviation sits unresolved in the QMS, you violate GxP law.</a:t>
            </a:r>
          </a:p>
          <a:p/>
          <a:p>
            <a:r>
              <a:t>These three hard problems became POC 1, POC 2, and POC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08:00 - 10:00 | 2 Minutes]</a:t>
            </a:r>
          </a:p>
          <a:p>
            <a:r>
              <a:t>SPEAKER SCRIPT:</a:t>
            </a:r>
          </a:p>
          <a:p>
            <a:r>
              <a:t>"Rather than writing ad-hoc code, we executed this project under the full 21-stage Forward Deployed Engineering (FDE) operating model.</a:t>
            </a:r>
          </a:p>
          <a:p/>
          <a:p>
            <a:r>
              <a:t>Across 21 distinct stages, we produced 185 tracked artifacts in our master register. We began with forensic analysis of the 132 raw baseline files in Stage 1 and 2, profiling data quality and identifying missing timestamps. In Stages 6 through 9, we defined formal contracts and built an evaluation catalog of 57 test cases. In Stages 10 through 14, we developed C4 architecture diagrams, a comprehensive PRD, and an AIBOM.</a:t>
            </a:r>
          </a:p>
          <a:p/>
          <a:p>
            <a:r>
              <a:t>In Stage 15 through 18, we engineered the production engine, achieving 96.22% code coverage, running benchmark drills, and testing backup-restore recovery. And in Stages 19 through 21, we conducted security scans, mapped a 90-day production roadmap, and formalized our G6 release decision.</a:t>
            </a:r>
          </a:p>
          <a:p/>
          <a:p>
            <a:r>
              <a:t>Every single artifact is accounted for and cryptographically verified in our repository."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10:00 - 12:00 | 2 Minutes]</a:t>
            </a:r>
          </a:p>
          <a:p>
            <a:r>
              <a:t>SPEAKER SCRIPT:</a:t>
            </a:r>
          </a:p>
          <a:p>
            <a:r>
              <a:t>"Our architecture is built on four non-negotiable engineering principles:</a:t>
            </a:r>
          </a:p>
          <a:p/>
          <a:p>
            <a:r>
              <a:t>First: 'Status labels do not create truth.' In many healthcare systems, an operator changes a dropdown from 'Pending' to 'Approved', and everyone treats that label as fact. In our engine, a status label is meaningless without an immutable, cited evidence reference. If evidence is missing, the gate is explicitly UNKNOWN and fails closed.</a:t>
            </a:r>
          </a:p>
          <a:p/>
          <a:p>
            <a:r>
              <a:t>Second: Human Sovereignty. AI can summarize, format, and surface risks, but it cannot release a drug or merge a patient identity. </a:t>
            </a:r>
          </a:p>
          <a:p/>
          <a:p>
            <a:r>
              <a:t>Third: Bi-temporal Audit Trails. We record both when an event occurred in the physical world and when our system learned about it. This ensures late-arriving telemetry never rewrites historical known-at reality.</a:t>
            </a:r>
          </a:p>
          <a:p/>
          <a:p>
            <a:r>
              <a:t>Fourth: Idempotency with Reconciliation. A network timeout is neither a confirmed success nor a confirmed failure—it is an OUTCOME_UNKNOWN that requires reconciliation before retry."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12:00 - 13:30 | 1.5 Minutes]</a:t>
            </a:r>
          </a:p>
          <a:p>
            <a:r>
              <a:t>SPEAKER SCRIPT:</a:t>
            </a:r>
          </a:p>
          <a:p>
            <a:r>
              <a:t>"A major contribution of this capstone is establishing clean information architecture boundaries for AI in life sciences.</a:t>
            </a:r>
          </a:p>
          <a:p/>
          <a:p>
            <a:r>
              <a:t>In enterprise software today, there is a temptation to throw a large language model and vector database at everything. We rejected that anti-pattern completely. </a:t>
            </a:r>
          </a:p>
          <a:p/>
          <a:p>
            <a:r>
              <a:t>In our architecture, canonical operational facts—such as whether a batch passed sterility testing or whether an apheresis bag was delivered—are handled purely through deterministic, typed relational projections. Zero vector search, zero LLM hallucinations.</a:t>
            </a:r>
          </a:p>
          <a:p/>
          <a:p>
            <a:r>
              <a:t>RAG is evaluated for optional, supporting tasks only: indexing SOP manuals and free-text deviation narratives. And for the critical path, the system operates with AI completely off. When our advisory assistant runs, it is strictly non-binding, citation-constrained, and isolated from operational authority."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13:30 - 15:00 | 1.5 Minutes]</a:t>
            </a:r>
          </a:p>
          <a:p>
            <a:r>
              <a:t>SPEAKER SCRIPT:</a:t>
            </a:r>
          </a:p>
          <a:p>
            <a:r>
              <a:t>"In clinical cell therapy, different stakeholders need different operational views, but backend permissions must remain strictly enforced.</a:t>
            </a:r>
          </a:p>
          <a:p/>
          <a:p>
            <a:r>
              <a:t>We developed seven persona lenses:</a:t>
            </a:r>
          </a:p>
          <a:p>
            <a:r>
              <a:t>The Patient Operations Coordinator needs an end-to-end overview and exception management.</a:t>
            </a:r>
          </a:p>
          <a:p>
            <a:r>
              <a:t>The Identity Authority focuses strictly on resolving MRN and consent mismatches.</a:t>
            </a:r>
          </a:p>
          <a:p>
            <a:r>
              <a:t>The Logistics Planner watches cryogenic telemetry and courier handoffs.</a:t>
            </a:r>
          </a:p>
          <a:p>
            <a:r>
              <a:t>Manufacturing Operations oversees apheresis receipt and bioreactor suites.</a:t>
            </a:r>
          </a:p>
          <a:p>
            <a:r>
              <a:t>The Lab QC Analyst verifies flow cytometry and sterility assays.</a:t>
            </a:r>
          </a:p>
          <a:p>
            <a:r>
              <a:t>The Quality Authority owns the legal release decision.</a:t>
            </a:r>
          </a:p>
          <a:p>
            <a:r>
              <a:t>And the Executive Viewer monitors portfolio metrics and compliance health.</a:t>
            </a:r>
          </a:p>
          <a:p/>
          <a:p>
            <a:r>
              <a:t>Crucially, selecting a role lens in our UI changes what is highlighted, but it does not grant backend authority. Mutating actions require cryptographically verified server-side tokens."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15:00 - 18:00 | 3 Minutes]</a:t>
            </a:r>
          </a:p>
          <a:p>
            <a:r>
              <a:t>SPEAKER SCRIPT:</a:t>
            </a:r>
          </a:p>
          <a:p>
            <a:r>
              <a:t>"At this point in our presentation, we transition to our featured 120-second executive demonstration video.</a:t>
            </a:r>
          </a:p>
          <a:p/>
          <a:p>
            <a:r>
              <a:t>[ACTION: Play video 'cgt_patient_to_batch_orchestration_demo.mp4' or narrate along with the slides]</a:t>
            </a:r>
          </a:p>
          <a:p/>
          <a:p>
            <a:r>
              <a:t>Notice how the video establishes the living drug challenge in the first 30 seconds. At the 53-second mark, it demonstrates POC 1: when conflicting MRN records arrive from clinic feeds, the system refuses to guess; it creates an owned exception.</a:t>
            </a:r>
          </a:p>
          <a:p/>
          <a:p>
            <a:r>
              <a:t>At 1 minute 3 seconds, POC 2 demonstrates an external slot reservation timeout: instead of retrying and double-booking, it flags OUTCOME_UNKNOWN and reconciles safely.</a:t>
            </a:r>
          </a:p>
          <a:p/>
          <a:p>
            <a:r>
              <a:t>At 1 minute 12 seconds, POC 3 shows manufacturing completion: software is explicitly prohibited from releasing the lot until Quality reviews all deviation packets and signs the release.</a:t>
            </a:r>
          </a:p>
          <a:p/>
          <a:p>
            <a:r>
              <a:t>And finally, at 1 minute 35 seconds, the video displays our assurance scorecard and our transparent G6 decision: Restrict and Change. Let's now dive deep into each of these three technical proofs."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18:00 - 21:00 | 3 Minutes]</a:t>
            </a:r>
          </a:p>
          <a:p>
            <a:r>
              <a:t>SPEAKER SCRIPT:</a:t>
            </a:r>
          </a:p>
          <a:p>
            <a:r>
              <a:t>"Let's examine Proof of Concept 1: Identity Resolution.</a:t>
            </a:r>
          </a:p>
          <a:p/>
          <a:p>
            <a:r>
              <a:t>In our test scenario, two conflicting feeds arrive for subject SUBJ-DE-0002. One feed from the clinical trial registry reports a birthdate of April 12th; another feed from the local hospital EHR reports April 14th with a different medical record number.</a:t>
            </a:r>
          </a:p>
          <a:p/>
          <a:p>
            <a:r>
              <a:t>In naive healthcare software, string distance algorithms might say '92% similarity—merge records'. In autologous cell therapy, that 8% error can kill a patient. </a:t>
            </a:r>
          </a:p>
          <a:p/>
          <a:p>
            <a:r>
              <a:t>Our engine explicitly blocks the merge. It records an identity state of CONFLICT_DETECTED. It citations the exact source files and line numbers where the conflict arose. It creates a P0 exception case assigned to the Identity Authority role.</a:t>
            </a:r>
          </a:p>
          <a:p/>
          <a:p>
            <a:r>
              <a:t>Only when the Identity Authority reviews the physical primary source records and applies an authorized signature does the gate flip to SATISFIED. Evidence precedes state—always."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21:00 - 24:00 | 3 Minutes]</a:t>
            </a:r>
          </a:p>
          <a:p>
            <a:r>
              <a:t>SPEAKER SCRIPT:</a:t>
            </a:r>
          </a:p>
          <a:p>
            <a:r>
              <a:t>"Next, Proof of Concept 2: Safe Slot Orchestration.</a:t>
            </a:r>
          </a:p>
          <a:p/>
          <a:p>
            <a:r>
              <a:t>Manufacturing suites for cell therapy require advanced scheduling: isolators, cleanrooms, viral vector batches, and specialized technicians. A single slot reservation is worth over $250,000.</a:t>
            </a:r>
          </a:p>
          <a:p/>
          <a:p>
            <a:r>
              <a:t>In our simulation, a reservation command is dispatched to CDMO partner suite MFG-US-NJ-01. The remote server receives the request, reserves the slot, but the network connection drops before the HTTP 200 response reaches our orchestrator.</a:t>
            </a:r>
          </a:p>
          <a:p/>
          <a:p>
            <a:r>
              <a:t>What does standard microservice architecture do? It retries three times with exponential backoff. The CDMO receives three more booking requests, double-booking the cleanroom.</a:t>
            </a:r>
          </a:p>
          <a:p/>
          <a:p>
            <a:r>
              <a:t>Our engine refuses to retry blindly. It marks the command as OUTCOME_UNKNOWN. It locks the transaction. A reconciliation worker then queries the external transaction journal using our client-generated idempotency key. When it discovers the reservation was already recorded, it reconciles our local state to SUCCEEDED. When a duplicate dispatch is attempted, it returns the cached result without touching the external network."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24:00 - 27:00 | 3 Minutes]</a:t>
            </a:r>
          </a:p>
          <a:p>
            <a:r>
              <a:t>SPEAKER SCRIPT:</a:t>
            </a:r>
          </a:p>
          <a:p>
            <a:r>
              <a:t>"Proof of Concept 3 addresses the most dangerous trap in automated life-sciences software: premature Quality release.</a:t>
            </a:r>
          </a:p>
          <a:p/>
          <a:p>
            <a:r>
              <a:t>In our scenario, manufacturing finishes on Batch BAT-00010. The bioreactors shut down, the cells are frozen into cryo-vials, and the MES emits an event saying 'Manufacturing Complete'. </a:t>
            </a:r>
          </a:p>
          <a:p/>
          <a:p>
            <a:r>
              <a:t>In many commercial systems, downstream portals listen for this event and immediately alert the hospital that the product is ready for infusion. But there is an open deviation: during hour 48 of expansion, an incubator temperature alert DEV-00019 was flagged and remains under investigation.</a:t>
            </a:r>
          </a:p>
          <a:p/>
          <a:p>
            <a:r>
              <a:t>Our engine evaluates four distinct evidence packets: Identity, Consent, Cryogenic Telemetry, and QC Lab Assays. Because an open deviation exists, the Quality Release gate evaluates to UNKNOWN / BLOCKED. The product is physically quarantined.</a:t>
            </a:r>
          </a:p>
          <a:p/>
          <a:p>
            <a:r>
              <a:t>Only when the Quality Authority reviews the root cause analysis, verifies the safety assays, and inputs a cryptographic release authorization does the system transition to RELEASE_APPROVED. This guarantees compliance with FDA Part 11 and cGMP."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27:00 - 29:30 | 2.5 Minutes]</a:t>
            </a:r>
          </a:p>
          <a:p>
            <a:r>
              <a:t>SPEAKER SCRIPT:</a:t>
            </a:r>
          </a:p>
          <a:p>
            <a:r>
              <a:t>"Now, let's explore the Centralized Patient Operations Dashboard, which integrates directly into our FastAPI control tower.</a:t>
            </a:r>
          </a:p>
          <a:p/>
          <a:p>
            <a:r>
              <a:t>Until this point, the baseline only permitted inspecting one patient at a time. Operations teams managing clinical trials or commercial therapies cannot operate through keyhole views—they need full population visibility.</a:t>
            </a:r>
          </a:p>
          <a:p/>
          <a:p>
            <a:r>
              <a:t>Our dashboard connects directly to the 800 synthetic patient cohort. At the top, coordinators have an instant KPI strip showing active vs completed patients, open QA holds, and products staged for infusion.</a:t>
            </a:r>
          </a:p>
          <a:p/>
          <a:p>
            <a:r>
              <a:t>Below, coordinators can filter across ten orchestration phases, filter by clinical trial center from Zurich to Singapore, or search across MRNs, batch IDs, and chain of identity identifiers.</a:t>
            </a:r>
          </a:p>
          <a:p/>
          <a:p>
            <a:r>
              <a:t>Clicking on any patient launches a comprehensive modal that renders every connected record: cryogenic shipments, bioreactor reservations, QC viability assays, open deviation tickets, consent versions, and payer authorizations. Everything is rendered from typed, zero-allocation Python projections."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29:30 - 31:30 | 2 Minutes]</a:t>
            </a:r>
          </a:p>
          <a:p>
            <a:r>
              <a:t>SPEAKER SCRIPT:</a:t>
            </a:r>
          </a:p>
          <a:p>
            <a:r>
              <a:t>"Here is the forensic breakdown of the 800-patient population.</a:t>
            </a:r>
          </a:p>
          <a:p/>
          <a:p>
            <a:r>
              <a:t>Of the 800 patients, 673 are active and 127 have completed infusion. But notice the critical figures on the right:</a:t>
            </a:r>
          </a:p>
          <a:p/>
          <a:p>
            <a:r>
              <a:t>There are 145 patients associated with open Quality discrepancies or manufacturing holds across the dataset. </a:t>
            </a:r>
          </a:p>
          <a:p/>
          <a:p>
            <a:r>
              <a:t>Now look at the distinction between the physical world and the Quality world: 57 patients have their cellular drug physically sitting in cryogenic dewars at the hospital treatment center. In naive software, all 57 would be labeled 'Infusion Ready'.</a:t>
            </a:r>
          </a:p>
          <a:p/>
          <a:p>
            <a:r>
              <a:t>However, when our engine cross-references the batch release records and deviation ledgers, 32 of those 57 batches either have unresolved manufacturing holds or QMS release status pending. Therefore, exactly 25 patients are genuinely, strictly authorized for clinical infusion.</a:t>
            </a:r>
          </a:p>
          <a:p/>
          <a:p>
            <a:r>
              <a:t>This single calculation illustrates the difference between software that merely tracks logistics and an orchestrator that protects human lives."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31:30 - 33:00 | 1.5 Minutes]</a:t>
            </a:r>
          </a:p>
          <a:p>
            <a:r>
              <a:t>SPEAKER SCRIPT:</a:t>
            </a:r>
          </a:p>
          <a:p>
            <a:r>
              <a:t>"Let's look at Patient P-00013, Cameron Wilson. This case perfectly illustrates our engine's defensive design.</a:t>
            </a:r>
          </a:p>
          <a:p/>
          <a:p>
            <a:r>
              <a:t>Cameron Wilson is enrolled at the Berlin Treatment Center. His manufactured CAR-T cells completed transit and arrived at the hospital dewar. The hospital clinical export lists his status as 'INFUSION_READY'. If the oncologist opened the hospital portal, they would see green lights and prepare to infuse the patient.</a:t>
            </a:r>
          </a:p>
          <a:p/>
          <a:p>
            <a:r>
              <a:t>However, deep in the manufacturing batches table, batch BAT-00013 contains an unlinked hold flag: `hold_status = HOLD`. There is no ticket in `deviations.csv`—it is an unlinked source anomaly.</a:t>
            </a:r>
          </a:p>
          <a:p/>
          <a:p>
            <a:r>
              <a:t>Earlier prototypes made two fatal mistakes: they either ignored the hold flag because no deviation row existed, or they fabricated an imaginary CAPA ticket ID to satisfy the UI.</a:t>
            </a:r>
          </a:p>
          <a:p/>
          <a:p>
            <a:r>
              <a:t>Our Python service does neither. It refuses to fabricate ground truth. It tags the reference honestly as UNLINKED_SOURCE_HOLD_FLAG, flips the infusion authorization to PROHIBITED, marks the journey position as 'Returned to Site (Quarantined)', and sounds an alarm across the dashboard.</a:t>
            </a:r>
          </a:p>
          <a:p/>
          <a:p>
            <a:r>
              <a:t>Cameron Wilson is protected from receiving an adulterated, unreleased drug."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33:00 - 34:30 | 1.5 Minutes]</a:t>
            </a:r>
          </a:p>
          <a:p>
            <a:r>
              <a:t>SPEAKER SCRIPT:</a:t>
            </a:r>
          </a:p>
          <a:p>
            <a:r>
              <a:t>"This brings us to a fundamental lesson in GxP data engineering: Zero Ground Truth Fabrication.</a:t>
            </a:r>
          </a:p>
          <a:p/>
          <a:p>
            <a:r>
              <a:t>During our audit of earlier prototypes, we discovered three critical domain flaws that would fail any FDA inspection:</a:t>
            </a:r>
          </a:p>
          <a:p/>
          <a:p>
            <a:r>
              <a:t>First, 18 patients were shown on screen as 'Infusion Ready' even though their QMS release status was PENDING. We eliminated all 18 false positives.</a:t>
            </a:r>
          </a:p>
          <a:p/>
          <a:p>
            <a:r>
              <a:t>Second, when the UI needed a CAPA ticket number or a hold opening date and none existed in the database, the prototype fabricated strings like 'CAPA-2026-HOLD-P-00013' and synthesized fake dates. In GxP, fabricating data is a criminal violation. Our engine never invents data; it outputs UNLINKED_SOURCE_HOLD_FLAG with opened_at: None.</a:t>
            </a:r>
          </a:p>
          <a:p/>
          <a:p>
            <a:r>
              <a:t>Third, when infused patients had open holds, the prototype displayed 'Administered under exception'. But there was no exception event in the source tables! We reclassified those records as INFUSED_WITH_UNRESOLVED_DISCREPANCY—an explicit audit finding demanding post-infusion investigation.</a:t>
            </a:r>
          </a:p>
          <a:p/>
          <a:p>
            <a:r>
              <a:t>Integrity is not just about clean UI; it is about absolute truthfulness in the data layer."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34:30 - 36:00 | 1.5 Minutes]</a:t>
            </a:r>
          </a:p>
          <a:p>
            <a:r>
              <a:t>SPEAKER SCRIPT:</a:t>
            </a:r>
          </a:p>
          <a:p>
            <a:r>
              <a:t>"Let's review our verification scorecard.</a:t>
            </a:r>
          </a:p>
          <a:p/>
          <a:p>
            <a:r>
              <a:t>Our testing pyramid contains 118 automated tests passing in under 3.2 seconds. This includes unit tests for our temporal models and authorization logic, integration tests for all three POCs, and end-to-end full journey simulations.</a:t>
            </a:r>
          </a:p>
          <a:p/>
          <a:p>
            <a:r>
              <a:t>Our code coverage is 96.22%, comfortably exceeding our enforced 94% fail-under threshold. </a:t>
            </a:r>
          </a:p>
          <a:p/>
          <a:p>
            <a:r>
              <a:t>Our codebase is fully typed: Mypy runs with zero errors across all 24 Python modules. Ruff reports zero linting issues. Our secret scanner examined all 570 text files with zero findings.</a:t>
            </a:r>
          </a:p>
          <a:p/>
          <a:p>
            <a:r>
              <a:t>And our master verification utility, `verify_final_capstone.py`, runs 17 distinct provenance and integrity checks—from SHA-256 archive hashes to artifact register completeness—and every single check returns PASS.</a:t>
            </a:r>
          </a:p>
          <a:p/>
          <a:p>
            <a:r>
              <a:t>Every build is continuously verified on GitHub Actions across Python 3.11 and 3.12."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36:00 - 37:30 | 1.5 Minutes]</a:t>
            </a:r>
          </a:p>
          <a:p>
            <a:r>
              <a:t>SPEAKER SCRIPT:</a:t>
            </a:r>
          </a:p>
          <a:p>
            <a:r>
              <a:t>"At Stage 20 and 21, the operating model requires a formal G6 Lifecycle Decision.</a:t>
            </a:r>
          </a:p>
          <a:p/>
          <a:p>
            <a:r>
              <a:t>There were three choices: Deploy As-Is, Abandon, or Restrict and Change.</a:t>
            </a:r>
          </a:p>
          <a:p/>
          <a:p>
            <a:r>
              <a:t>An inexperienced team might be tempted to declare 'Deploy As-Is'. But in regulated life sciences, claiming production validation on synthetic local data is engineering malpractice. Two controlled human-factor studies remain unrun, and live enterprise integrations have not been stressed.</a:t>
            </a:r>
          </a:p>
          <a:p/>
          <a:p>
            <a:r>
              <a:t>We unanimously recommended 'RESTRICT AND CHANGE'.</a:t>
            </a:r>
          </a:p>
          <a:p/>
          <a:p>
            <a:r>
              <a:t>This means: Accept the academic POC. The architecture, the data contracts, the state machines, and the audit chains are proven sound. But keep live AI off, prohibit clinical use on real patients, and execute the 7 CAPAs on our 90-day roadmap before entering clinical validation.</a:t>
            </a:r>
          </a:p>
          <a:p/>
          <a:p>
            <a:r>
              <a:t>This decision reflects true enterprise maturity."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37:30 - 39:00 | 1.5 Minutes]</a:t>
            </a:r>
          </a:p>
          <a:p>
            <a:r>
              <a:t>SPEAKER SCRIPT:</a:t>
            </a:r>
          </a:p>
          <a:p>
            <a:r>
              <a:t>"To bridge the gap between our working POC and a production-grade hospital deployment, we defined a concrete 90-day roadmap organized into seven Corrective and Preventive Actions (CAPAs):</a:t>
            </a:r>
          </a:p>
          <a:p/>
          <a:p>
            <a:r>
              <a:t>CAPA 1 replaces demo bearer tokens with enterprise OIDC single sign-on.</a:t>
            </a:r>
          </a:p>
          <a:p>
            <a:r>
              <a:t>CAPA 2 implements HL7 and FHIR clinical connectors for direct EHR integration.</a:t>
            </a:r>
          </a:p>
          <a:p>
            <a:r>
              <a:t>CAPA 3 deploys 21 CFR Part 11 cryptographic digital signatures for Quality releases.</a:t>
            </a:r>
          </a:p>
          <a:p>
            <a:r>
              <a:t>CAPA 4 anchors our SHA-256 audit chains in a Hardware Security Module.</a:t>
            </a:r>
          </a:p>
          <a:p>
            <a:r>
              <a:t>CAPA 5 tests multi-region failover and disaster recovery drills.</a:t>
            </a:r>
          </a:p>
          <a:p>
            <a:r>
              <a:t>CAPA 6 executes the two controlled human-factor usability studies.</a:t>
            </a:r>
          </a:p>
          <a:p>
            <a:r>
              <a:t>And CAPA 7 completes formal GAMP 5 Computerized System Validation.</a:t>
            </a:r>
          </a:p>
          <a:p/>
          <a:p>
            <a:r>
              <a:t>This roadmap gives the enterprise a clear, accountable path to clinical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39:00 - 40:00 | 1 Minute + Transition to Q&amp;A]</a:t>
            </a:r>
          </a:p>
          <a:p>
            <a:r>
              <a:t>SPEAKER SCRIPT:</a:t>
            </a:r>
          </a:p>
          <a:p>
            <a:r>
              <a:t>"In summary: We have delivered a complete, mathematically verified, and GxP-disciplined Cell and Gene Therapy orchestration platform.</a:t>
            </a:r>
          </a:p>
          <a:p/>
          <a:p>
            <a:r>
              <a:t>All code, tests, documentation, video walkthroughs, and presentation assets are committed and verified green on GitHub. </a:t>
            </a:r>
          </a:p>
          <a:p/>
          <a:p>
            <a:r>
              <a:t>Our guiding axiom remains: 'Evidence before status, and human authority before automation.'</a:t>
            </a:r>
          </a:p>
          <a:p/>
          <a:p>
            <a:r>
              <a:t>Thank you for your time and partnership. The floor is now open for questions and discussion from the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cene01.png"/>
          <p:cNvPicPr>
            <a:picLocks noChangeAspect="1"/>
          </p:cNvPicPr>
          <p:nvPr/>
        </p:nvPicPr>
        <p:blipFill>
          <a:blip r:embed="rId2"/>
          <a:stretch>
            <a:fillRect/>
          </a:stretch>
        </p:blipFill>
        <p:spPr>
          <a:xfrm>
            <a:off x="6217920" y="1097280"/>
            <a:ext cx="5303520" cy="2983230"/>
          </a:xfrm>
          <a:prstGeom prst="rect">
            <a:avLst/>
          </a:prstGeom>
        </p:spPr>
      </p:pic>
      <p:sp>
        <p:nvSpPr>
          <p:cNvPr id="4" name="TextBox 3"/>
          <p:cNvSpPr txBox="1"/>
          <p:nvPr/>
        </p:nvSpPr>
        <p:spPr>
          <a:xfrm>
            <a:off x="731520" y="1463040"/>
            <a:ext cx="5120640" cy="4114800"/>
          </a:xfrm>
          <a:prstGeom prst="rect">
            <a:avLst/>
          </a:prstGeom>
          <a:noFill/>
        </p:spPr>
        <p:txBody>
          <a:bodyPr wrap="square">
            <a:spAutoFit/>
          </a:bodyPr>
          <a:lstStyle/>
          <a:p>
            <a:pPr>
              <a:spcAft>
                <a:spcPts val="1400"/>
              </a:spcAft>
              <a:defRPr sz="1200" b="1">
                <a:solidFill>
                  <a:srgbClr val="06B6D4"/>
                </a:solidFill>
              </a:defRPr>
            </a:pPr>
            <a:r>
              <a:t>ENTERPRISE FDE CAPSTONE DEFENSE</a:t>
            </a:r>
          </a:p>
          <a:p>
            <a:pPr>
              <a:spcAft>
                <a:spcPts val="1600"/>
              </a:spcAft>
              <a:defRPr sz="3000" b="1">
                <a:solidFill>
                  <a:srgbClr val="FFFFFF"/>
                </a:solidFill>
              </a:defRPr>
            </a:pPr>
            <a:r>
              <a:t>Cell &amp; Gene Therapy (CGT)</a:t>
            </a:r>
            <a:br/>
            <a:r>
              <a:t>Patient-to-Batch Orchestration</a:t>
            </a:r>
          </a:p>
          <a:p>
            <a:pPr>
              <a:spcAft>
                <a:spcPts val="2800"/>
              </a:spcAft>
              <a:defRPr sz="1500">
                <a:solidFill>
                  <a:srgbClr val="CBD5E1"/>
                </a:solidFill>
              </a:defRPr>
            </a:pPr>
            <a:r>
              <a:t>Engineering an Evidence-Driven, Tamper-Evident Control Tower for Autologous Living Drugs Across 21 FDE Stages</a:t>
            </a:r>
          </a:p>
          <a:p>
            <a:pPr>
              <a:defRPr sz="1100">
                <a:solidFill>
                  <a:srgbClr val="94A3B8"/>
                </a:solidFill>
              </a:defRPr>
            </a:pPr>
            <a:r>
              <a:t>Presenter: AI Forward Deployed Engineer (FDE)</a:t>
            </a:r>
            <a:br/>
            <a:r>
              <a:t>Audience: Executive Steering Committee &amp; Quality Board</a:t>
            </a:r>
            <a:br/>
            <a:r>
              <a:t>Duration: 40 Minutes (32 min Presentation + 8 min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01 / EXECUTIVE CONTEXT</a:t>
            </a:r>
          </a:p>
          <a:p>
            <a:pPr>
              <a:spcAft>
                <a:spcPts val="400"/>
              </a:spcAft>
              <a:defRPr sz="2400" b="1">
                <a:solidFill>
                  <a:srgbClr val="0F172A"/>
                </a:solidFill>
              </a:defRPr>
            </a:pPr>
            <a:r>
              <a:t>The 'Batch Size of One' Reality in Cell &amp; Gene Therapy</a:t>
            </a:r>
          </a:p>
          <a:p>
            <a:pPr>
              <a:defRPr sz="1300">
                <a:solidFill>
                  <a:srgbClr val="64748B"/>
                </a:solidFill>
              </a:defRPr>
            </a:pPr>
            <a:r>
              <a:t>Why autologous therapeutics fundamentally break traditional supply chain assumptions</a:t>
            </a:r>
          </a:p>
        </p:txBody>
      </p:sp>
      <p:sp>
        <p:nvSpPr>
          <p:cNvPr id="4" name="Rounded Rectangle 3"/>
          <p:cNvSpPr/>
          <p:nvPr/>
        </p:nvSpPr>
        <p:spPr>
          <a:xfrm>
            <a:off x="731520" y="2011680"/>
            <a:ext cx="338328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sz="1600" b="1">
                <a:solidFill>
                  <a:srgbClr val="0D9488"/>
                </a:solidFill>
              </a:defRPr>
            </a:pPr>
            <a:r>
              <a:t>The 'Batch Size of One'</a:t>
            </a:r>
          </a:p>
          <a:p>
            <a:pPr>
              <a:spcAft>
                <a:spcPts val="1400"/>
              </a:spcAft>
              <a:defRPr sz="1300">
                <a:solidFill>
                  <a:srgbClr val="0F172A"/>
                </a:solidFill>
              </a:defRPr>
            </a:pPr>
            <a:r>
              <a:t>Every single batch is personalized from a patient's own harvested T-cells. There is zero inventory buffer, zero substitution, and zero tolerance for misattribution.</a:t>
            </a:r>
          </a:p>
        </p:txBody>
      </p:sp>
      <p:sp>
        <p:nvSpPr>
          <p:cNvPr id="5" name="Rounded Rectangle 4"/>
          <p:cNvSpPr/>
          <p:nvPr/>
        </p:nvSpPr>
        <p:spPr>
          <a:xfrm>
            <a:off x="4297680" y="2011680"/>
            <a:ext cx="338328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sz="1600" b="1">
                <a:solidFill>
                  <a:srgbClr val="06B6D4"/>
                </a:solidFill>
              </a:defRPr>
            </a:pPr>
            <a:r>
              <a:t>The Vein-to-Vein Pipeline</a:t>
            </a:r>
          </a:p>
          <a:p>
            <a:pPr>
              <a:spcAft>
                <a:spcPts val="1400"/>
              </a:spcAft>
              <a:defRPr sz="1300">
                <a:solidFill>
                  <a:srgbClr val="0F172A"/>
                </a:solidFill>
              </a:defRPr>
            </a:pPr>
            <a:r>
              <a:t>Starts at the hospital apheresis suite, travels via cryo logistics (-150°C LN2), undergoes CDMO genetic transduction, and returns for patient lymphodepletion.</a:t>
            </a:r>
          </a:p>
        </p:txBody>
      </p:sp>
      <p:sp>
        <p:nvSpPr>
          <p:cNvPr id="6" name="Rounded Rectangle 5"/>
          <p:cNvSpPr/>
          <p:nvPr/>
        </p:nvSpPr>
        <p:spPr>
          <a:xfrm>
            <a:off x="7863840" y="2011680"/>
            <a:ext cx="338328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sz="1600" b="1">
                <a:solidFill>
                  <a:srgbClr val="DC2626"/>
                </a:solidFill>
              </a:defRPr>
            </a:pPr>
            <a:r>
              <a:t>The Compliance Mandate</a:t>
            </a:r>
          </a:p>
          <a:p>
            <a:pPr>
              <a:spcAft>
                <a:spcPts val="1400"/>
              </a:spcAft>
              <a:defRPr sz="1300">
                <a:solidFill>
                  <a:srgbClr val="0F172A"/>
                </a:solidFill>
              </a:defRPr>
            </a:pPr>
            <a:r>
              <a:t>Strict adherence to FDA 21 CFR Part 11, GAMP 5, and EU Annex 11. Heuristic matching, guessing, or unverified automated transitions are unacceptable under GxP.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02 / PROBLEM STATEMENT</a:t>
            </a:r>
          </a:p>
          <a:p>
            <a:pPr>
              <a:spcAft>
                <a:spcPts val="400"/>
              </a:spcAft>
              <a:defRPr sz="2400" b="1">
                <a:solidFill>
                  <a:srgbClr val="0F172A"/>
                </a:solidFill>
              </a:defRPr>
            </a:pPr>
            <a:r>
              <a:t>Four Disconnected Enterprise Siloes</a:t>
            </a:r>
          </a:p>
          <a:p>
            <a:pPr>
              <a:defRPr sz="1300">
                <a:solidFill>
                  <a:srgbClr val="64748B"/>
                </a:solidFill>
              </a:defRPr>
            </a:pPr>
            <a:r>
              <a:t>Fragmented transactional systems create operational blindness and catastrophic safety hazards</a:t>
            </a:r>
          </a:p>
        </p:txBody>
      </p:sp>
      <p:pic>
        <p:nvPicPr>
          <p:cNvPr id="4" name="Picture 3" descr="scene02.png"/>
          <p:cNvPicPr>
            <a:picLocks noChangeAspect="1"/>
          </p:cNvPicPr>
          <p:nvPr/>
        </p:nvPicPr>
        <p:blipFill>
          <a:blip r:embed="rId2"/>
          <a:stretch>
            <a:fillRect/>
          </a:stretch>
        </p:blipFill>
        <p:spPr>
          <a:xfrm>
            <a:off x="6217920" y="1645920"/>
            <a:ext cx="5303520" cy="2983230"/>
          </a:xfrm>
          <a:prstGeom prst="rect">
            <a:avLst/>
          </a:prstGeom>
        </p:spPr>
      </p:pic>
      <p:sp>
        <p:nvSpPr>
          <p:cNvPr id="5" name="TextBox 4"/>
          <p:cNvSpPr txBox="1"/>
          <p:nvPr/>
        </p:nvSpPr>
        <p:spPr>
          <a:xfrm>
            <a:off x="731520" y="1645920"/>
            <a:ext cx="5120640" cy="4572000"/>
          </a:xfrm>
          <a:prstGeom prst="rect">
            <a:avLst/>
          </a:prstGeom>
          <a:noFill/>
        </p:spPr>
        <p:txBody>
          <a:bodyPr wrap="square">
            <a:spAutoFit/>
          </a:bodyPr>
          <a:lstStyle/>
          <a:p>
            <a:pPr>
              <a:spcAft>
                <a:spcPts val="1000"/>
              </a:spcAft>
              <a:defRPr b="1" sz="1200">
                <a:solidFill>
                  <a:srgbClr val="0F172A"/>
                </a:solidFill>
              </a:defRPr>
            </a:pPr>
            <a:r>
              <a:t>• Clinical Hospital Feeds (EDC / CRM): </a:t>
            </a:r>
            <a:r>
              <a:rPr b="0">
                <a:solidFill>
                  <a:srgbClr val="64748B"/>
                </a:solidFill>
              </a:rPr>
              <a:t>Emit patient records, subject identifiers, and DOBs—frequently conflicting across hospital networks with no unified identity master.</a:t>
            </a:r>
          </a:p>
          <a:p>
            <a:pPr>
              <a:spcAft>
                <a:spcPts val="1000"/>
              </a:spcAft>
              <a:defRPr b="1" sz="1200">
                <a:solidFill>
                  <a:srgbClr val="0F172A"/>
                </a:solidFill>
              </a:defRPr>
            </a:pPr>
            <a:r>
              <a:t>• Cryogenic Couriers &amp; Dry Vapor LN2: </a:t>
            </a:r>
            <a:r>
              <a:rPr b="0">
                <a:solidFill>
                  <a:srgbClr val="64748B"/>
                </a:solidFill>
              </a:rPr>
              <a:t>Emit IoT temperature readings and GPS coordinates, but lack visibility into patient readiness, customs holds, or manufacturing schedules.</a:t>
            </a:r>
          </a:p>
          <a:p>
            <a:pPr>
              <a:spcAft>
                <a:spcPts val="1000"/>
              </a:spcAft>
              <a:defRPr b="1" sz="1200">
                <a:solidFill>
                  <a:srgbClr val="0F172A"/>
                </a:solidFill>
              </a:defRPr>
            </a:pPr>
            <a:r>
              <a:t>• CDMO Manufacturing (MES / SCADA): </a:t>
            </a:r>
            <a:r>
              <a:rPr b="0">
                <a:solidFill>
                  <a:srgbClr val="64748B"/>
                </a:solidFill>
              </a:rPr>
              <a:t>Tracks bioreactor operations, cell viability, and lot numbering, but cannot authorize patient scheduling or release disposition.</a:t>
            </a:r>
          </a:p>
          <a:p>
            <a:pPr>
              <a:spcAft>
                <a:spcPts val="1000"/>
              </a:spcAft>
              <a:defRPr b="1" sz="1200">
                <a:solidFill>
                  <a:srgbClr val="0F172A"/>
                </a:solidFill>
              </a:defRPr>
            </a:pPr>
            <a:r>
              <a:t>• Enterprise Quality &amp; ERP (SAP / QMS): </a:t>
            </a:r>
            <a:r>
              <a:rPr b="0">
                <a:solidFill>
                  <a:srgbClr val="64748B"/>
                </a:solidFill>
              </a:rPr>
              <a:t>Contains deviation logs and CAPA reports, but operates on asynchronous batch batch-release cadences detached from clinic bedsides.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03 / RISK TAXONOMY</a:t>
            </a:r>
          </a:p>
          <a:p>
            <a:pPr>
              <a:spcAft>
                <a:spcPts val="400"/>
              </a:spcAft>
              <a:defRPr sz="2400" b="1">
                <a:solidFill>
                  <a:srgbClr val="0F172A"/>
                </a:solidFill>
              </a:defRPr>
            </a:pPr>
            <a:r>
              <a:t>The Three Critical Hazard Vectors in Cell Therapy</a:t>
            </a:r>
          </a:p>
          <a:p>
            <a:pPr>
              <a:defRPr sz="1300">
                <a:solidFill>
                  <a:srgbClr val="64748B"/>
                </a:solidFill>
              </a:defRPr>
            </a:pPr>
            <a:r>
              <a:t>Quantitative consequences of ungrounded status assumptions and unverified transitions</a:t>
            </a:r>
          </a:p>
        </p:txBody>
      </p:sp>
      <p:sp>
        <p:nvSpPr>
          <p:cNvPr id="4" name="Rounded Rectangle 3"/>
          <p:cNvSpPr/>
          <p:nvPr/>
        </p:nvSpPr>
        <p:spPr>
          <a:xfrm>
            <a:off x="731520" y="1645920"/>
            <a:ext cx="10698480" cy="1417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000" b="1">
                <a:solidFill>
                  <a:srgbClr val="DC2626"/>
                </a:solidFill>
              </a:defRPr>
            </a:pPr>
            <a:r>
              <a:t>CRITICAL CLINICAL HAZARD</a:t>
            </a:r>
          </a:p>
          <a:p>
            <a:pPr>
              <a:spcAft>
                <a:spcPts val="400"/>
              </a:spcAft>
              <a:defRPr sz="1500" b="1">
                <a:solidFill>
                  <a:srgbClr val="0F172A"/>
                </a:solidFill>
              </a:defRPr>
            </a:pPr>
            <a:r>
              <a:t>Hazard 1: Mismatched Patient Identity</a:t>
            </a:r>
          </a:p>
          <a:p>
            <a:pPr>
              <a:defRPr sz="1100">
                <a:solidFill>
                  <a:srgbClr val="64748B"/>
                </a:solidFill>
              </a:defRPr>
            </a:pPr>
            <a:r>
              <a:t>Infusing an engineered cellular drug into the wrong patient triggers fatal hyper-acute rejection or Graft-versus-Host Disease (GvHD). Merging records based on heuristic string similarity violates 21 CFR Part 11 requirements for Chain of Identity.</a:t>
            </a:r>
          </a:p>
        </p:txBody>
      </p:sp>
      <p:sp>
        <p:nvSpPr>
          <p:cNvPr id="5" name="Rounded Rectangle 4"/>
          <p:cNvSpPr/>
          <p:nvPr/>
        </p:nvSpPr>
        <p:spPr>
          <a:xfrm>
            <a:off x="731520" y="3246120"/>
            <a:ext cx="10698480" cy="1417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000" b="1">
                <a:solidFill>
                  <a:srgbClr val="D97706"/>
                </a:solidFill>
              </a:defRPr>
            </a:pPr>
            <a:r>
              <a:t>HIGH OPERATIONAL &amp; FINANCIAL HAZARD</a:t>
            </a:r>
          </a:p>
          <a:p>
            <a:pPr>
              <a:spcAft>
                <a:spcPts val="400"/>
              </a:spcAft>
              <a:defRPr sz="1500" b="1">
                <a:solidFill>
                  <a:srgbClr val="0F172A"/>
                </a:solidFill>
              </a:defRPr>
            </a:pPr>
            <a:r>
              <a:t>Hazard 2: Blind Retry &amp; Slot Double-Booking</a:t>
            </a:r>
          </a:p>
          <a:p>
            <a:pPr>
              <a:defRPr sz="1100">
                <a:solidFill>
                  <a:srgbClr val="64748B"/>
                </a:solidFill>
              </a:defRPr>
            </a:pPr>
            <a:r>
              <a:t>When an external CDMO API times out during slot booking, blind HTTP retries dispatch duplicate reservation requests. A single reserved cleanroom suite costs $250k+; double-booking causes schedule collapse and cancelled patient conditioning.</a:t>
            </a:r>
          </a:p>
        </p:txBody>
      </p:sp>
      <p:sp>
        <p:nvSpPr>
          <p:cNvPr id="6" name="Rounded Rectangle 5"/>
          <p:cNvSpPr/>
          <p:nvPr/>
        </p:nvSpPr>
        <p:spPr>
          <a:xfrm>
            <a:off x="731520" y="4846320"/>
            <a:ext cx="10698480" cy="1417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000" b="1">
                <a:solidFill>
                  <a:srgbClr val="DC2626"/>
                </a:solidFill>
              </a:defRPr>
            </a:pPr>
            <a:r>
              <a:t>SEVERE REGULATORY COMPLIANCE HAZARD</a:t>
            </a:r>
          </a:p>
          <a:p>
            <a:pPr>
              <a:spcAft>
                <a:spcPts val="400"/>
              </a:spcAft>
              <a:defRPr sz="1500" b="1">
                <a:solidFill>
                  <a:srgbClr val="0F172A"/>
                </a:solidFill>
              </a:defRPr>
            </a:pPr>
            <a:r>
              <a:t>Hazard 3: Automated or Pre-Mature Release</a:t>
            </a:r>
          </a:p>
          <a:p>
            <a:pPr>
              <a:defRPr sz="1100">
                <a:solidFill>
                  <a:srgbClr val="64748B"/>
                </a:solidFill>
              </a:defRPr>
            </a:pPr>
            <a:r>
              <a:t>Allowing an MES 'Manufacturing Complete' status to automatically clear a batch for hospital staging bypasses QA deviations. Shipping and administering an adulterated batch triggers FDA Form 483s, consent decrees, and clinical holds.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04 / OPERATING MODEL</a:t>
            </a:r>
          </a:p>
          <a:p>
            <a:pPr>
              <a:spcAft>
                <a:spcPts val="400"/>
              </a:spcAft>
              <a:defRPr sz="2400" b="1">
                <a:solidFill>
                  <a:srgbClr val="0F172A"/>
                </a:solidFill>
              </a:defRPr>
            </a:pPr>
            <a:r>
              <a:t>The 21-Stage Forward Deployed Engineering Architecture</a:t>
            </a:r>
          </a:p>
          <a:p>
            <a:pPr>
              <a:defRPr sz="1300">
                <a:solidFill>
                  <a:srgbClr val="64748B"/>
                </a:solidFill>
              </a:defRPr>
            </a:pPr>
            <a:r>
              <a:t>A rigorous end-to-end discipline from forensic baseline profiling to production readiness</a:t>
            </a:r>
          </a:p>
        </p:txBody>
      </p:sp>
      <p:pic>
        <p:nvPicPr>
          <p:cNvPr id="4" name="Picture 3" descr="scene03.png"/>
          <p:cNvPicPr>
            <a:picLocks noChangeAspect="1"/>
          </p:cNvPicPr>
          <p:nvPr/>
        </p:nvPicPr>
        <p:blipFill>
          <a:blip r:embed="rId2"/>
          <a:stretch>
            <a:fillRect/>
          </a:stretch>
        </p:blipFill>
        <p:spPr>
          <a:xfrm>
            <a:off x="6217920" y="1645920"/>
            <a:ext cx="5303520" cy="2983230"/>
          </a:xfrm>
          <a:prstGeom prst="rect">
            <a:avLst/>
          </a:prstGeom>
        </p:spPr>
      </p:pic>
      <p:sp>
        <p:nvSpPr>
          <p:cNvPr id="5" name="TextBox 4"/>
          <p:cNvSpPr txBox="1"/>
          <p:nvPr/>
        </p:nvSpPr>
        <p:spPr>
          <a:xfrm>
            <a:off x="731520" y="1645920"/>
            <a:ext cx="5120640" cy="4572000"/>
          </a:xfrm>
          <a:prstGeom prst="rect">
            <a:avLst/>
          </a:prstGeom>
          <a:noFill/>
        </p:spPr>
        <p:txBody>
          <a:bodyPr wrap="square">
            <a:spAutoFit/>
          </a:bodyPr>
          <a:lstStyle/>
          <a:p>
            <a:pPr>
              <a:spcAft>
                <a:spcPts val="800"/>
              </a:spcAft>
              <a:defRPr b="1" sz="1100">
                <a:solidFill>
                  <a:srgbClr val="0D9488"/>
                </a:solidFill>
              </a:defRPr>
            </a:pPr>
            <a:r>
              <a:t>Phase 1: Discovery &amp; Forensics (Stages 1–5): </a:t>
            </a:r>
            <a:r>
              <a:rPr b="0">
                <a:solidFill>
                  <a:srgbClr val="0F172A"/>
                </a:solidFill>
              </a:rPr>
              <a:t>Forensic baseline extraction of 132 challenge files, data knowledge profiling, value-risk-feasibility scoring, and persona definitions.</a:t>
            </a:r>
          </a:p>
          <a:p>
            <a:pPr>
              <a:spcAft>
                <a:spcPts val="800"/>
              </a:spcAft>
              <a:defRPr b="1" sz="1100">
                <a:solidFill>
                  <a:srgbClr val="0D9488"/>
                </a:solidFill>
              </a:defRPr>
            </a:pPr>
            <a:r>
              <a:t>Phase 2: Modeling &amp; Contracts (Stages 6–9): </a:t>
            </a:r>
            <a:r>
              <a:rPr b="0">
                <a:solidFill>
                  <a:srgbClr val="0F172A"/>
                </a:solidFill>
              </a:rPr>
              <a:t>Domain data dictionary, formal evaluation catalog (57 test cases), solution scoring, and machine-readable JSON schemas.</a:t>
            </a:r>
          </a:p>
          <a:p>
            <a:pPr>
              <a:spcAft>
                <a:spcPts val="800"/>
              </a:spcAft>
              <a:defRPr b="1" sz="1100">
                <a:solidFill>
                  <a:srgbClr val="0D9488"/>
                </a:solidFill>
              </a:defRPr>
            </a:pPr>
            <a:r>
              <a:t>Phase 3: Architecture &amp; PRD (Stages 10–14): </a:t>
            </a:r>
            <a:r>
              <a:rPr b="0">
                <a:solidFill>
                  <a:srgbClr val="0F172A"/>
                </a:solidFill>
              </a:rPr>
              <a:t>C4 target architecture, build vs. buy evaluation, formal PRD, brownfield migration strategy, and GxP AIBOM generation.</a:t>
            </a:r>
          </a:p>
          <a:p>
            <a:pPr>
              <a:spcAft>
                <a:spcPts val="800"/>
              </a:spcAft>
              <a:defRPr b="1" sz="1100">
                <a:solidFill>
                  <a:srgbClr val="0D9488"/>
                </a:solidFill>
              </a:defRPr>
            </a:pPr>
            <a:r>
              <a:t>Phase 4: Engineering &amp; Assurance (Stages 15–18): </a:t>
            </a:r>
            <a:r>
              <a:rPr b="0">
                <a:solidFill>
                  <a:srgbClr val="0F172A"/>
                </a:solidFill>
              </a:rPr>
              <a:t>118 automated tests (96.22% coverage), microbenchmarks, chaos recovery drills, and continuous deployment simulations.</a:t>
            </a:r>
          </a:p>
          <a:p>
            <a:pPr>
              <a:spcAft>
                <a:spcPts val="800"/>
              </a:spcAft>
              <a:defRPr b="1" sz="1100">
                <a:solidFill>
                  <a:srgbClr val="0D9488"/>
                </a:solidFill>
              </a:defRPr>
            </a:pPr>
            <a:r>
              <a:t>Phase 5: Governance &amp; Roadmap (Stages 19–21): </a:t>
            </a:r>
            <a:r>
              <a:rPr b="0">
                <a:solidFill>
                  <a:srgbClr val="0F172A"/>
                </a:solidFill>
              </a:rPr>
              <a:t>Security &amp; credential retirement scan, 90-day production gap roadmap, and G6 Lifecycle Restrict-and-Change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05 / CORE PRINCIPLES</a:t>
            </a:r>
          </a:p>
          <a:p>
            <a:pPr>
              <a:spcAft>
                <a:spcPts val="400"/>
              </a:spcAft>
              <a:defRPr sz="2400" b="1">
                <a:solidFill>
                  <a:srgbClr val="0F172A"/>
                </a:solidFill>
              </a:defRPr>
            </a:pPr>
            <a:r>
              <a:t>Evidence Before Status: The Foundational Axiom</a:t>
            </a:r>
          </a:p>
          <a:p>
            <a:pPr>
              <a:defRPr sz="1300">
                <a:solidFill>
                  <a:srgbClr val="64748B"/>
                </a:solidFill>
              </a:defRPr>
            </a:pPr>
            <a:r>
              <a:t>Status labels do not create truth; the orchestrator records what is known, unknown, blocked, and authorized</a:t>
            </a:r>
          </a:p>
        </p:txBody>
      </p:sp>
      <p:sp>
        <p:nvSpPr>
          <p:cNvPr id="4" name="Rounded Rectangle 3"/>
          <p:cNvSpPr/>
          <p:nvPr/>
        </p:nvSpPr>
        <p:spPr>
          <a:xfrm>
            <a:off x="731520" y="1645920"/>
            <a:ext cx="10698480"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400" b="1">
                <a:solidFill>
                  <a:srgbClr val="0D9488"/>
                </a:solidFill>
              </a:defRPr>
            </a:pPr>
            <a:r>
              <a:t>1. Explicit Unknowns &amp; Fail-Closed Gates</a:t>
            </a:r>
          </a:p>
          <a:p>
            <a:pPr>
              <a:defRPr sz="1100">
                <a:solidFill>
                  <a:srgbClr val="64748B"/>
                </a:solidFill>
              </a:defRPr>
            </a:pPr>
            <a:r>
              <a:t>If a required evidence artifact is missing (e.g. missing signed consent or unverified temperature reading), the readiness state is explicitly UNKNOWN, dominating any positive indicator. Missing evidence never defaults to satisfied.</a:t>
            </a:r>
          </a:p>
        </p:txBody>
      </p:sp>
      <p:sp>
        <p:nvSpPr>
          <p:cNvPr id="5" name="Rounded Rectangle 4"/>
          <p:cNvSpPr/>
          <p:nvPr/>
        </p:nvSpPr>
        <p:spPr>
          <a:xfrm>
            <a:off x="731520" y="2880360"/>
            <a:ext cx="10698480"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400" b="1">
                <a:solidFill>
                  <a:srgbClr val="0F172A"/>
                </a:solidFill>
              </a:defRPr>
            </a:pPr>
            <a:r>
              <a:t>2. Human Sovereignty Over Authority</a:t>
            </a:r>
          </a:p>
          <a:p>
            <a:pPr>
              <a:defRPr sz="1100">
                <a:solidFill>
                  <a:srgbClr val="64748B"/>
                </a:solidFill>
              </a:defRPr>
            </a:pPr>
            <a:r>
              <a:t>Artificial intelligence and workflow automation may summarize state and surface discrepancies, but they have zero consequential authority. Only credentialed human principals (Quality, Identity) can authorize transitions.</a:t>
            </a:r>
          </a:p>
        </p:txBody>
      </p:sp>
      <p:sp>
        <p:nvSpPr>
          <p:cNvPr id="6" name="Rounded Rectangle 5"/>
          <p:cNvSpPr/>
          <p:nvPr/>
        </p:nvSpPr>
        <p:spPr>
          <a:xfrm>
            <a:off x="731520" y="4114800"/>
            <a:ext cx="10698480"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400" b="1">
                <a:solidFill>
                  <a:srgbClr val="06B6D4"/>
                </a:solidFill>
              </a:defRPr>
            </a:pPr>
            <a:r>
              <a:t>3. Bi-Temporal Audit &amp; Tamper-Evidence</a:t>
            </a:r>
          </a:p>
          <a:p>
            <a:pPr>
              <a:defRPr sz="1100">
                <a:solidFill>
                  <a:srgbClr val="64748B"/>
                </a:solidFill>
              </a:defRPr>
            </a:pPr>
            <a:r>
              <a:t>Every operational state mutation appends an immutable record with occurrence time vs. recording time. Cryptographic SHA-256 hash chains detect any unauthorized ledger modification.</a:t>
            </a:r>
          </a:p>
        </p:txBody>
      </p:sp>
      <p:sp>
        <p:nvSpPr>
          <p:cNvPr id="7" name="Rounded Rectangle 6"/>
          <p:cNvSpPr/>
          <p:nvPr/>
        </p:nvSpPr>
        <p:spPr>
          <a:xfrm>
            <a:off x="731520" y="5349240"/>
            <a:ext cx="10698480"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400" b="1">
                <a:solidFill>
                  <a:srgbClr val="D97706"/>
                </a:solidFill>
              </a:defRPr>
            </a:pPr>
            <a:r>
              <a:t>4. Safe Idempotent Commands &amp; Reconciliation</a:t>
            </a:r>
          </a:p>
          <a:p>
            <a:pPr>
              <a:defRPr sz="1100">
                <a:solidFill>
                  <a:srgbClr val="64748B"/>
                </a:solidFill>
              </a:defRPr>
            </a:pPr>
            <a:r>
              <a:t>All mutating operations require client-generated idempotency keys. In network dropouts, the system transitions to OUTCOME_UNKNOWN, checks external reality, and prevents duplicate executions.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06 / INFORMATION ARCHITECTURE</a:t>
            </a:r>
          </a:p>
          <a:p>
            <a:pPr>
              <a:spcAft>
                <a:spcPts val="400"/>
              </a:spcAft>
              <a:defRPr sz="2400" b="1">
                <a:solidFill>
                  <a:srgbClr val="0F172A"/>
                </a:solidFill>
              </a:defRPr>
            </a:pPr>
            <a:r>
              <a:t>Structured Truth vs. RAG vs. AI Guardrails</a:t>
            </a:r>
          </a:p>
          <a:p>
            <a:pPr>
              <a:defRPr sz="1300">
                <a:solidFill>
                  <a:srgbClr val="64748B"/>
                </a:solidFill>
              </a:defRPr>
            </a:pPr>
            <a:r>
              <a:t>Calibrated information boundaries: zero generative hallucination in the critical path</a:t>
            </a:r>
          </a:p>
        </p:txBody>
      </p:sp>
      <p:sp>
        <p:nvSpPr>
          <p:cNvPr id="4" name="Rounded Rectangle 3"/>
          <p:cNvSpPr/>
          <p:nvPr/>
        </p:nvSpPr>
        <p:spPr>
          <a:xfrm>
            <a:off x="731520" y="1645920"/>
            <a:ext cx="10698480" cy="1417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500" b="1">
                <a:solidFill>
                  <a:srgbClr val="16A34A"/>
                </a:solidFill>
              </a:defRPr>
            </a:pPr>
            <a:r>
              <a:t>Direct Structured Retrieval (Canonical Truth)</a:t>
            </a:r>
          </a:p>
          <a:p>
            <a:pPr>
              <a:defRPr sz="1200">
                <a:solidFill>
                  <a:srgbClr val="64748B"/>
                </a:solidFill>
              </a:defRPr>
            </a:pPr>
            <a:r>
              <a:t>Operational facts (batches, lots, patient keys, dates, QC passes) are extracted via deterministic typed models directly from raw CSV/SQL tables. Zero vector embeddings, zero LLM generation.</a:t>
            </a:r>
          </a:p>
        </p:txBody>
      </p:sp>
      <p:sp>
        <p:nvSpPr>
          <p:cNvPr id="5" name="Rounded Rectangle 4"/>
          <p:cNvSpPr/>
          <p:nvPr/>
        </p:nvSpPr>
        <p:spPr>
          <a:xfrm>
            <a:off x="731520" y="3246120"/>
            <a:ext cx="10698480" cy="1417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500" b="1">
                <a:solidFill>
                  <a:srgbClr val="0D9488"/>
                </a:solidFill>
              </a:defRPr>
            </a:pPr>
            <a:r>
              <a:t>Optional Retrieval-Augmented Generation (RAG)</a:t>
            </a:r>
          </a:p>
          <a:p>
            <a:pPr>
              <a:defRPr sz="1200">
                <a:solidFill>
                  <a:srgbClr val="64748B"/>
                </a:solidFill>
              </a:defRPr>
            </a:pPr>
            <a:r>
              <a:t>Restricted purely to supporting unstructured context: reading clinical SOPs, investigator brochures, and unstructured deviation notes. RAG is prohibited from deciding operational status.</a:t>
            </a:r>
          </a:p>
        </p:txBody>
      </p:sp>
      <p:sp>
        <p:nvSpPr>
          <p:cNvPr id="6" name="Rounded Rectangle 5"/>
          <p:cNvSpPr/>
          <p:nvPr/>
        </p:nvSpPr>
        <p:spPr>
          <a:xfrm>
            <a:off x="731520" y="4846320"/>
            <a:ext cx="10698480" cy="1417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500" b="1">
                <a:solidFill>
                  <a:srgbClr val="0F172A"/>
                </a:solidFill>
              </a:defRPr>
            </a:pPr>
            <a:r>
              <a:t>Strict Model Boundary (AI Off by Default)</a:t>
            </a:r>
          </a:p>
          <a:p>
            <a:pPr>
              <a:defRPr sz="1200">
                <a:solidFill>
                  <a:srgbClr val="64748B"/>
                </a:solidFill>
              </a:defRPr>
            </a:pPr>
            <a:r>
              <a:t>In production, AI_MODE=off. When the advisory assistant is enabled for demonstration, it runs in a bounded fake adapter that provides narrative explanation with explicit uncertainty declarations.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07 / PERSONA ARCHITECTURE</a:t>
            </a:r>
          </a:p>
          <a:p>
            <a:pPr>
              <a:spcAft>
                <a:spcPts val="400"/>
              </a:spcAft>
              <a:defRPr sz="2400" b="1">
                <a:solidFill>
                  <a:srgbClr val="0F172A"/>
                </a:solidFill>
              </a:defRPr>
            </a:pPr>
            <a:r>
              <a:t>One Journey, Seven Operational Responsibilities</a:t>
            </a:r>
          </a:p>
          <a:p>
            <a:pPr>
              <a:defRPr sz="1300">
                <a:solidFill>
                  <a:srgbClr val="64748B"/>
                </a:solidFill>
              </a:defRPr>
            </a:pPr>
            <a:r>
              <a:t>Role-based lenses adjust presentation focus while enforcing backend permission boundaries</a:t>
            </a:r>
          </a:p>
        </p:txBody>
      </p:sp>
      <p:sp>
        <p:nvSpPr>
          <p:cNvPr id="4" name="Rounded Rectangle 3"/>
          <p:cNvSpPr/>
          <p:nvPr/>
        </p:nvSpPr>
        <p:spPr>
          <a:xfrm>
            <a:off x="731520" y="1828800"/>
            <a:ext cx="2560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300" b="1">
                <a:solidFill>
                  <a:srgbClr val="0D9488"/>
                </a:solidFill>
              </a:defRPr>
            </a:pPr>
            <a:r>
              <a:t>Patient Operations</a:t>
            </a:r>
          </a:p>
          <a:p>
            <a:pPr>
              <a:defRPr sz="1000">
                <a:solidFill>
                  <a:srgbClr val="0F172A"/>
                </a:solidFill>
              </a:defRPr>
            </a:pPr>
            <a:r>
              <a:t>End-to-end journey tracking &amp; managing exception cases across centers.</a:t>
            </a:r>
          </a:p>
        </p:txBody>
      </p:sp>
      <p:sp>
        <p:nvSpPr>
          <p:cNvPr id="5" name="Rounded Rectangle 4"/>
          <p:cNvSpPr/>
          <p:nvPr/>
        </p:nvSpPr>
        <p:spPr>
          <a:xfrm>
            <a:off x="3429000" y="1828800"/>
            <a:ext cx="2560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300" b="1">
                <a:solidFill>
                  <a:srgbClr val="06B6D4"/>
                </a:solidFill>
              </a:defRPr>
            </a:pPr>
            <a:r>
              <a:t>Identity Authority</a:t>
            </a:r>
          </a:p>
          <a:p>
            <a:pPr>
              <a:defRPr sz="1000">
                <a:solidFill>
                  <a:srgbClr val="0F172A"/>
                </a:solidFill>
              </a:defRPr>
            </a:pPr>
            <a:r>
              <a:t>Adjudicating clinical subject, MRN, and consent discrepancies.</a:t>
            </a:r>
          </a:p>
        </p:txBody>
      </p:sp>
      <p:sp>
        <p:nvSpPr>
          <p:cNvPr id="6" name="Rounded Rectangle 5"/>
          <p:cNvSpPr/>
          <p:nvPr/>
        </p:nvSpPr>
        <p:spPr>
          <a:xfrm>
            <a:off x="6126480" y="1828800"/>
            <a:ext cx="2560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300" b="1">
                <a:solidFill>
                  <a:srgbClr val="0F172A"/>
                </a:solidFill>
              </a:defRPr>
            </a:pPr>
            <a:r>
              <a:t>Logistics / Planner</a:t>
            </a:r>
          </a:p>
          <a:p>
            <a:pPr>
              <a:defRPr sz="1000">
                <a:solidFill>
                  <a:srgbClr val="0F172A"/>
                </a:solidFill>
              </a:defRPr>
            </a:pPr>
            <a:r>
              <a:t>Monitoring dry vapor LN2 transit, couriers, and temperature excursions.</a:t>
            </a:r>
          </a:p>
        </p:txBody>
      </p:sp>
      <p:sp>
        <p:nvSpPr>
          <p:cNvPr id="7" name="Rounded Rectangle 6"/>
          <p:cNvSpPr/>
          <p:nvPr/>
        </p:nvSpPr>
        <p:spPr>
          <a:xfrm>
            <a:off x="8823960" y="1828800"/>
            <a:ext cx="2560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300" b="1">
                <a:solidFill>
                  <a:srgbClr val="D97706"/>
                </a:solidFill>
              </a:defRPr>
            </a:pPr>
            <a:r>
              <a:t>Manufacturing Ops</a:t>
            </a:r>
          </a:p>
          <a:p>
            <a:pPr>
              <a:defRPr sz="1000">
                <a:solidFill>
                  <a:srgbClr val="0F172A"/>
                </a:solidFill>
              </a:defRPr>
            </a:pPr>
            <a:r>
              <a:t>Managing bioreactor slots, apheresis receipt, and lot processing.</a:t>
            </a:r>
          </a:p>
        </p:txBody>
      </p:sp>
      <p:sp>
        <p:nvSpPr>
          <p:cNvPr id="8" name="Rounded Rectangle 7"/>
          <p:cNvSpPr/>
          <p:nvPr/>
        </p:nvSpPr>
        <p:spPr>
          <a:xfrm>
            <a:off x="731520" y="4114800"/>
            <a:ext cx="2560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300" b="1">
                <a:solidFill>
                  <a:srgbClr val="16A34A"/>
                </a:solidFill>
              </a:defRPr>
            </a:pPr>
            <a:r>
              <a:t>Lab / QC Analyst</a:t>
            </a:r>
          </a:p>
          <a:p>
            <a:pPr>
              <a:defRPr sz="1000">
                <a:solidFill>
                  <a:srgbClr val="0F172A"/>
                </a:solidFill>
              </a:defRPr>
            </a:pPr>
            <a:r>
              <a:t>Recording cell viability, identity assays, and sterility testing.</a:t>
            </a:r>
          </a:p>
        </p:txBody>
      </p:sp>
      <p:sp>
        <p:nvSpPr>
          <p:cNvPr id="9" name="Rounded Rectangle 8"/>
          <p:cNvSpPr/>
          <p:nvPr/>
        </p:nvSpPr>
        <p:spPr>
          <a:xfrm>
            <a:off x="3429000" y="4114800"/>
            <a:ext cx="2560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300" b="1">
                <a:solidFill>
                  <a:srgbClr val="DC2626"/>
                </a:solidFill>
              </a:defRPr>
            </a:pPr>
            <a:r>
              <a:t>Quality Authority</a:t>
            </a:r>
          </a:p>
          <a:p>
            <a:pPr>
              <a:defRPr sz="1000">
                <a:solidFill>
                  <a:srgbClr val="0F172A"/>
                </a:solidFill>
              </a:defRPr>
            </a:pPr>
            <a:r>
              <a:t>Reviewing deviation packages and executing formal GxP batch release.</a:t>
            </a:r>
          </a:p>
        </p:txBody>
      </p:sp>
      <p:sp>
        <p:nvSpPr>
          <p:cNvPr id="10" name="Rounded Rectangle 9"/>
          <p:cNvSpPr/>
          <p:nvPr/>
        </p:nvSpPr>
        <p:spPr>
          <a:xfrm>
            <a:off x="6126480" y="4114800"/>
            <a:ext cx="2560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300" b="1">
                <a:solidFill>
                  <a:srgbClr val="64748B"/>
                </a:solidFill>
              </a:defRPr>
            </a:pPr>
            <a:r>
              <a:t>Executive Viewer</a:t>
            </a:r>
          </a:p>
          <a:p>
            <a:pPr>
              <a:defRPr sz="1000">
                <a:solidFill>
                  <a:srgbClr val="0F172A"/>
                </a:solidFill>
              </a:defRPr>
            </a:pPr>
            <a:r>
              <a:t>Real-time portfolio visibility, compliance posture, and SLA tracking.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6B6D4"/>
                </a:solidFill>
              </a:defRPr>
            </a:pPr>
            <a:r>
              <a:t>08 / DEMONSTRATION SHOWCASE</a:t>
            </a:r>
          </a:p>
          <a:p>
            <a:pPr>
              <a:spcAft>
                <a:spcPts val="400"/>
              </a:spcAft>
              <a:defRPr sz="2400" b="1">
                <a:solidFill>
                  <a:srgbClr val="FFFFFF"/>
                </a:solidFill>
              </a:defRPr>
            </a:pPr>
            <a:r>
              <a:t>Live Walkthrough: The 120-Second Capstone Demo</a:t>
            </a:r>
          </a:p>
          <a:p>
            <a:pPr>
              <a:defRPr sz="1300">
                <a:solidFill>
                  <a:srgbClr val="CBD5E1"/>
                </a:solidFill>
              </a:defRPr>
            </a:pPr>
            <a:r>
              <a:t>High-definition narrated demonstration of the control tower and three foundational proofs</a:t>
            </a:r>
          </a:p>
        </p:txBody>
      </p:sp>
      <p:pic>
        <p:nvPicPr>
          <p:cNvPr id="4" name="Picture 3" descr="scene04.png"/>
          <p:cNvPicPr>
            <a:picLocks noChangeAspect="1"/>
          </p:cNvPicPr>
          <p:nvPr/>
        </p:nvPicPr>
        <p:blipFill>
          <a:blip r:embed="rId2"/>
          <a:stretch>
            <a:fillRect/>
          </a:stretch>
        </p:blipFill>
        <p:spPr>
          <a:xfrm>
            <a:off x="6217920" y="1645920"/>
            <a:ext cx="5303520" cy="2983230"/>
          </a:xfrm>
          <a:prstGeom prst="rect">
            <a:avLst/>
          </a:prstGeom>
        </p:spPr>
      </p:pic>
      <p:sp>
        <p:nvSpPr>
          <p:cNvPr id="5" name="TextBox 4"/>
          <p:cNvSpPr txBox="1"/>
          <p:nvPr/>
        </p:nvSpPr>
        <p:spPr>
          <a:xfrm>
            <a:off x="731520" y="1645920"/>
            <a:ext cx="5120640" cy="4754880"/>
          </a:xfrm>
          <a:prstGeom prst="rect">
            <a:avLst/>
          </a:prstGeom>
          <a:noFill/>
        </p:spPr>
        <p:txBody>
          <a:bodyPr wrap="square">
            <a:spAutoFit/>
          </a:bodyPr>
          <a:lstStyle/>
          <a:p>
            <a:pPr>
              <a:spcAft>
                <a:spcPts val="600"/>
              </a:spcAft>
              <a:defRPr sz="1200" b="1">
                <a:solidFill>
                  <a:srgbClr val="06B6D4"/>
                </a:solidFill>
              </a:defRPr>
            </a:pPr>
            <a:r>
              <a:t>FEATURED VIDEO ARTIFACT</a:t>
            </a:r>
          </a:p>
          <a:p>
            <a:pPr>
              <a:spcAft>
                <a:spcPts val="1400"/>
              </a:spcAft>
              <a:defRPr sz="1100">
                <a:solidFill>
                  <a:srgbClr val="CBD5E1"/>
                </a:solidFill>
              </a:defRPr>
            </a:pPr>
            <a:r>
              <a:t>File: cgt_patient_to_batch_orchestration_demo.mp4</a:t>
            </a:r>
            <a:br/>
            <a:r>
              <a:t>Duration: 120 Seconds · Format: 1080p Widescreen (60 fps)</a:t>
            </a:r>
            <a:br/>
            <a:r>
              <a:t>Captions: Full English Subtitles (.srt &amp; .vtt committed)</a:t>
            </a:r>
          </a:p>
          <a:p>
            <a:pPr>
              <a:spcAft>
                <a:spcPts val="600"/>
              </a:spcAft>
              <a:defRPr sz="1300" b="1">
                <a:solidFill>
                  <a:srgbClr val="FFFFFF"/>
                </a:solidFill>
              </a:defRPr>
            </a:pPr>
            <a:r>
              <a:t>Video Timeline &amp; Key Moments:</a:t>
            </a:r>
          </a:p>
          <a:p>
            <a:pPr>
              <a:spcAft>
                <a:spcPts val="400"/>
              </a:spcAft>
              <a:defRPr sz="1000">
                <a:solidFill>
                  <a:srgbClr val="94A3B8"/>
                </a:solidFill>
              </a:defRPr>
            </a:pPr>
            <a:r>
              <a:t>00:00–00:30 — The Problem: Connecting living drugs across 4 fragmented systems.</a:t>
            </a:r>
          </a:p>
          <a:p>
            <a:pPr>
              <a:spcAft>
                <a:spcPts val="400"/>
              </a:spcAft>
              <a:defRPr sz="1000">
                <a:solidFill>
                  <a:srgbClr val="94A3B8"/>
                </a:solidFill>
              </a:defRPr>
            </a:pPr>
            <a:r>
              <a:t>00:30–00:53 — The 21-Stage Model &amp; Unified Control Tower Interface.</a:t>
            </a:r>
          </a:p>
          <a:p>
            <a:pPr>
              <a:spcAft>
                <a:spcPts val="400"/>
              </a:spcAft>
              <a:defRPr sz="1000">
                <a:solidFill>
                  <a:srgbClr val="94A3B8"/>
                </a:solidFill>
              </a:defRPr>
            </a:pPr>
            <a:r>
              <a:t>00:53–01:03 — POC 01: Conflicting MRN becomes an owned exception, not an invented link.</a:t>
            </a:r>
          </a:p>
          <a:p>
            <a:pPr>
              <a:spcAft>
                <a:spcPts val="400"/>
              </a:spcAft>
              <a:defRPr sz="1000">
                <a:solidFill>
                  <a:srgbClr val="94A3B8"/>
                </a:solidFill>
              </a:defRPr>
            </a:pPr>
            <a:r>
              <a:t>01:03–01:12 — POC 02: Network timeout marked OUTCOME_UNKNOWN; replay blocked.</a:t>
            </a:r>
          </a:p>
          <a:p>
            <a:pPr>
              <a:spcAft>
                <a:spcPts val="400"/>
              </a:spcAft>
              <a:defRPr sz="1000">
                <a:solidFill>
                  <a:srgbClr val="94A3B8"/>
                </a:solidFill>
              </a:defRPr>
            </a:pPr>
            <a:r>
              <a:t>01:12–01:25 — POC 03: MES complete is not released; requires Quality authorization.</a:t>
            </a:r>
          </a:p>
          <a:p>
            <a:pPr>
              <a:spcAft>
                <a:spcPts val="400"/>
              </a:spcAft>
              <a:defRPr sz="1000">
                <a:solidFill>
                  <a:srgbClr val="94A3B8"/>
                </a:solidFill>
              </a:defRPr>
            </a:pPr>
            <a:r>
              <a:t>01:25–02:00 — Assurance Scorecard &amp; G6 Decision: Restrict &amp; Change (AI 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09 / TECHNICAL PROOF 01</a:t>
            </a:r>
          </a:p>
          <a:p>
            <a:pPr>
              <a:spcAft>
                <a:spcPts val="400"/>
              </a:spcAft>
              <a:defRPr sz="2400" b="1">
                <a:solidFill>
                  <a:srgbClr val="0F172A"/>
                </a:solidFill>
              </a:defRPr>
            </a:pPr>
            <a:r>
              <a:t>Identity &amp; Readiness: Conflicting Evidence Handled Safely</a:t>
            </a:r>
          </a:p>
          <a:p>
            <a:pPr>
              <a:defRPr sz="1300">
                <a:solidFill>
                  <a:srgbClr val="64748B"/>
                </a:solidFill>
              </a:defRPr>
            </a:pPr>
            <a:r>
              <a:t>When MRN and DOB assertions conflict, the orchestrator creates an owned case—never an invented patient link</a:t>
            </a:r>
          </a:p>
        </p:txBody>
      </p:sp>
      <p:pic>
        <p:nvPicPr>
          <p:cNvPr id="4" name="Picture 3" descr="scene05.png"/>
          <p:cNvPicPr>
            <a:picLocks noChangeAspect="1"/>
          </p:cNvPicPr>
          <p:nvPr/>
        </p:nvPicPr>
        <p:blipFill>
          <a:blip r:embed="rId2"/>
          <a:stretch>
            <a:fillRect/>
          </a:stretch>
        </p:blipFill>
        <p:spPr>
          <a:xfrm>
            <a:off x="6217920" y="1645920"/>
            <a:ext cx="5303520" cy="2983230"/>
          </a:xfrm>
          <a:prstGeom prst="rect">
            <a:avLst/>
          </a:prstGeom>
        </p:spPr>
      </p:pic>
      <p:sp>
        <p:nvSpPr>
          <p:cNvPr id="5" name="TextBox 4"/>
          <p:cNvSpPr txBox="1"/>
          <p:nvPr/>
        </p:nvSpPr>
        <p:spPr>
          <a:xfrm>
            <a:off x="731520" y="1645920"/>
            <a:ext cx="5120640" cy="4754880"/>
          </a:xfrm>
          <a:prstGeom prst="rect">
            <a:avLst/>
          </a:prstGeom>
          <a:noFill/>
        </p:spPr>
        <p:txBody>
          <a:bodyPr wrap="square">
            <a:spAutoFit/>
          </a:bodyPr>
          <a:lstStyle/>
          <a:p>
            <a:pPr>
              <a:spcAft>
                <a:spcPts val="200"/>
              </a:spcAft>
              <a:defRPr b="1" sz="1200">
                <a:solidFill>
                  <a:srgbClr val="DC2626"/>
                </a:solidFill>
              </a:defRPr>
            </a:pPr>
            <a:r>
              <a:t>1. The Stimulus (Conflict Injected)</a:t>
            </a:r>
          </a:p>
          <a:p>
            <a:pPr>
              <a:spcAft>
                <a:spcPts val="600"/>
              </a:spcAft>
              <a:defRPr sz="1000">
                <a:solidFill>
                  <a:srgbClr val="0F172A"/>
                </a:solidFill>
              </a:defRPr>
            </a:pPr>
            <a:r>
              <a:t>Clinic feed asserts Subject SUBJ-DE-0002 with MRN-888423; hospital portal asserts MRN-999121 with conflicting DOB 1985-04-12 vs 1985-04-14.</a:t>
            </a:r>
          </a:p>
          <a:p>
            <a:pPr>
              <a:spcAft>
                <a:spcPts val="200"/>
              </a:spcAft>
              <a:defRPr b="1" sz="1200">
                <a:solidFill>
                  <a:srgbClr val="64748B"/>
                </a:solidFill>
              </a:defRPr>
            </a:pPr>
            <a:r>
              <a:t>2. The Ungrounded Shortcut (What Bad Systems Do)</a:t>
            </a:r>
          </a:p>
          <a:p>
            <a:pPr>
              <a:spcAft>
                <a:spcPts val="600"/>
              </a:spcAft>
              <a:defRPr sz="1000">
                <a:solidFill>
                  <a:srgbClr val="0F172A"/>
                </a:solidFill>
              </a:defRPr>
            </a:pPr>
            <a:r>
              <a:t>Heuristic string matching merges the records or silently picks the most recent timestamp, corrupting the Chain of Identity.</a:t>
            </a:r>
          </a:p>
          <a:p>
            <a:pPr>
              <a:spcAft>
                <a:spcPts val="200"/>
              </a:spcAft>
              <a:defRPr b="1" sz="1200">
                <a:solidFill>
                  <a:srgbClr val="0D9488"/>
                </a:solidFill>
              </a:defRPr>
            </a:pPr>
            <a:r>
              <a:t>3. Our Deterministic Defense</a:t>
            </a:r>
          </a:p>
          <a:p>
            <a:pPr>
              <a:spcAft>
                <a:spcPts val="600"/>
              </a:spcAft>
              <a:defRPr sz="1000">
                <a:solidFill>
                  <a:srgbClr val="0F172A"/>
                </a:solidFill>
              </a:defRPr>
            </a:pPr>
            <a:r>
              <a:t>Identity decision evaluates to CONFLICT_DETECTED. The gate immediately drops to NOT_SATISFIED and fails closed.</a:t>
            </a:r>
          </a:p>
          <a:p>
            <a:pPr>
              <a:spcAft>
                <a:spcPts val="200"/>
              </a:spcAft>
              <a:defRPr b="1" sz="1200">
                <a:solidFill>
                  <a:srgbClr val="0F172A"/>
                </a:solidFill>
              </a:defRPr>
            </a:pPr>
            <a:r>
              <a:t>4. Human Adjudication &amp; Cited Evidence</a:t>
            </a:r>
          </a:p>
          <a:p>
            <a:pPr>
              <a:spcAft>
                <a:spcPts val="600"/>
              </a:spcAft>
              <a:defRPr sz="1000">
                <a:solidFill>
                  <a:srgbClr val="0F172A"/>
                </a:solidFill>
              </a:defRPr>
            </a:pPr>
            <a:r>
              <a:t>System creates an owned P0 exception case citing exact CSV line locators. Only a credentialed Identity Authority can confirm the resolution.</a:t>
            </a:r>
          </a:p>
          <a:p>
            <a:pPr>
              <a:spcAft>
                <a:spcPts val="200"/>
              </a:spcAft>
              <a:defRPr b="1" sz="1200">
                <a:solidFill>
                  <a:srgbClr val="16A34A"/>
                </a:solidFill>
              </a:defRPr>
            </a:pPr>
            <a:r>
              <a:t>5. Verified State Transition</a:t>
            </a:r>
          </a:p>
          <a:p>
            <a:pPr>
              <a:spcAft>
                <a:spcPts val="600"/>
              </a:spcAft>
              <a:defRPr sz="1000">
                <a:solidFill>
                  <a:srgbClr val="0F172A"/>
                </a:solidFill>
              </a:defRPr>
            </a:pPr>
            <a:r>
              <a:t>Readiness becomes SATISFIED only after verified authorization. Complete evidence citations are logged to the audit chain.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10 / TECHNICAL PROOF 02</a:t>
            </a:r>
          </a:p>
          <a:p>
            <a:pPr>
              <a:spcAft>
                <a:spcPts val="400"/>
              </a:spcAft>
              <a:defRPr sz="2400" b="1">
                <a:solidFill>
                  <a:srgbClr val="0F172A"/>
                </a:solidFill>
              </a:defRPr>
            </a:pPr>
            <a:r>
              <a:t>Safe Slot Orchestration: Idempotency &amp; Network Timeouts</a:t>
            </a:r>
          </a:p>
          <a:p>
            <a:pPr>
              <a:defRPr sz="1300">
                <a:solidFill>
                  <a:srgbClr val="64748B"/>
                </a:solidFill>
              </a:defRPr>
            </a:pPr>
            <a:r>
              <a:t>A network timeout becomes an explicit unknown outcome—reconciled against external reality, never blindly retried</a:t>
            </a:r>
          </a:p>
        </p:txBody>
      </p:sp>
      <p:pic>
        <p:nvPicPr>
          <p:cNvPr id="4" name="Picture 3" descr="scene06.png"/>
          <p:cNvPicPr>
            <a:picLocks noChangeAspect="1"/>
          </p:cNvPicPr>
          <p:nvPr/>
        </p:nvPicPr>
        <p:blipFill>
          <a:blip r:embed="rId2"/>
          <a:stretch>
            <a:fillRect/>
          </a:stretch>
        </p:blipFill>
        <p:spPr>
          <a:xfrm>
            <a:off x="6217920" y="1645920"/>
            <a:ext cx="5303520" cy="2983230"/>
          </a:xfrm>
          <a:prstGeom prst="rect">
            <a:avLst/>
          </a:prstGeom>
        </p:spPr>
      </p:pic>
      <p:sp>
        <p:nvSpPr>
          <p:cNvPr id="5" name="TextBox 4"/>
          <p:cNvSpPr txBox="1"/>
          <p:nvPr/>
        </p:nvSpPr>
        <p:spPr>
          <a:xfrm>
            <a:off x="731520" y="1645920"/>
            <a:ext cx="5120640" cy="4754880"/>
          </a:xfrm>
          <a:prstGeom prst="rect">
            <a:avLst/>
          </a:prstGeom>
          <a:noFill/>
        </p:spPr>
        <p:txBody>
          <a:bodyPr wrap="square">
            <a:spAutoFit/>
          </a:bodyPr>
          <a:lstStyle/>
          <a:p>
            <a:pPr>
              <a:spcAft>
                <a:spcPts val="200"/>
              </a:spcAft>
              <a:defRPr b="1" sz="1200">
                <a:solidFill>
                  <a:srgbClr val="D97706"/>
                </a:solidFill>
              </a:defRPr>
            </a:pPr>
            <a:r>
              <a:t>1. The Stimulus (Timeout Injected)</a:t>
            </a:r>
          </a:p>
          <a:p>
            <a:pPr>
              <a:spcAft>
                <a:spcPts val="600"/>
              </a:spcAft>
              <a:defRPr sz="1000">
                <a:solidFill>
                  <a:srgbClr val="0F172A"/>
                </a:solidFill>
              </a:defRPr>
            </a:pPr>
            <a:r>
              <a:t>A dispatch command is sent to book cleanroom manufacturing slot SLOT-MFG-01. The external CDMO API times out after committing the booking.</a:t>
            </a:r>
          </a:p>
          <a:p>
            <a:pPr>
              <a:spcAft>
                <a:spcPts val="200"/>
              </a:spcAft>
              <a:defRPr b="1" sz="1200">
                <a:solidFill>
                  <a:srgbClr val="64748B"/>
                </a:solidFill>
              </a:defRPr>
            </a:pPr>
            <a:r>
              <a:t>2. The Disaster of Blind Retries</a:t>
            </a:r>
          </a:p>
          <a:p>
            <a:pPr>
              <a:spcAft>
                <a:spcPts val="600"/>
              </a:spcAft>
              <a:defRPr sz="1000">
                <a:solidFill>
                  <a:srgbClr val="0F172A"/>
                </a:solidFill>
              </a:defRPr>
            </a:pPr>
            <a:r>
              <a:t>Standard retry middleware re-sends the POST request with a new transaction ID, causing the CDMO to double-book the suite or throw concurrency errors.</a:t>
            </a:r>
          </a:p>
          <a:p>
            <a:pPr>
              <a:spcAft>
                <a:spcPts val="200"/>
              </a:spcAft>
              <a:defRPr b="1" sz="1200">
                <a:solidFill>
                  <a:srgbClr val="0D9488"/>
                </a:solidFill>
              </a:defRPr>
            </a:pPr>
            <a:r>
              <a:t>3. Deterministic Unknown State</a:t>
            </a:r>
          </a:p>
          <a:p>
            <a:pPr>
              <a:spcAft>
                <a:spcPts val="600"/>
              </a:spcAft>
              <a:defRPr sz="1000">
                <a:solidFill>
                  <a:srgbClr val="0F172A"/>
                </a:solidFill>
              </a:defRPr>
            </a:pPr>
            <a:r>
              <a:t>Our engine transitions the reservation command state to OUTCOME_UNKNOWN. Retries are strictly blocked by the state machine.</a:t>
            </a:r>
          </a:p>
          <a:p>
            <a:pPr>
              <a:spcAft>
                <a:spcPts val="200"/>
              </a:spcAft>
              <a:defRPr b="1" sz="1200">
                <a:solidFill>
                  <a:srgbClr val="0F172A"/>
                </a:solidFill>
              </a:defRPr>
            </a:pPr>
            <a:r>
              <a:t>4. External Reconciliation Protocol</a:t>
            </a:r>
          </a:p>
          <a:p>
            <a:pPr>
              <a:spcAft>
                <a:spcPts val="600"/>
              </a:spcAft>
              <a:defRPr sz="1000">
                <a:solidFill>
                  <a:srgbClr val="0F172A"/>
                </a:solidFill>
              </a:defRPr>
            </a:pPr>
            <a:r>
              <a:t>The reconciliation worker queries the external CDMO transaction journal using the original Idempotency-Key.</a:t>
            </a:r>
          </a:p>
          <a:p>
            <a:pPr>
              <a:spcAft>
                <a:spcPts val="200"/>
              </a:spcAft>
              <a:defRPr b="1" sz="1200">
                <a:solidFill>
                  <a:srgbClr val="16A34A"/>
                </a:solidFill>
              </a:defRPr>
            </a:pPr>
            <a:r>
              <a:t>5. Idempotent Replay Protection</a:t>
            </a:r>
          </a:p>
          <a:p>
            <a:pPr>
              <a:spcAft>
                <a:spcPts val="600"/>
              </a:spcAft>
              <a:defRPr sz="1000">
                <a:solidFill>
                  <a:srgbClr val="0F172A"/>
                </a:solidFill>
              </a:defRPr>
            </a:pPr>
            <a:r>
              <a:t>Reconciliation confirms the slot was booked; state updates to SUCCEEDED. Duplicate calls return the cached response without dispatch.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11 / TECHNICAL PROOF 03</a:t>
            </a:r>
          </a:p>
          <a:p>
            <a:pPr>
              <a:spcAft>
                <a:spcPts val="400"/>
              </a:spcAft>
              <a:defRPr sz="2400" b="1">
                <a:solidFill>
                  <a:srgbClr val="0F172A"/>
                </a:solidFill>
              </a:defRPr>
            </a:pPr>
            <a:r>
              <a:t>Quality Release: Retained Authority Over Consequential Actions</a:t>
            </a:r>
          </a:p>
          <a:p>
            <a:pPr>
              <a:defRPr sz="1300">
                <a:solidFill>
                  <a:srgbClr val="64748B"/>
                </a:solidFill>
              </a:defRPr>
            </a:pPr>
            <a:r>
              <a:t>MES completion and ERP logistics signals cannot authorize release; only Quality Authority can clear a drug</a:t>
            </a:r>
          </a:p>
        </p:txBody>
      </p:sp>
      <p:pic>
        <p:nvPicPr>
          <p:cNvPr id="4" name="Picture 3" descr="scene07.png"/>
          <p:cNvPicPr>
            <a:picLocks noChangeAspect="1"/>
          </p:cNvPicPr>
          <p:nvPr/>
        </p:nvPicPr>
        <p:blipFill>
          <a:blip r:embed="rId2"/>
          <a:stretch>
            <a:fillRect/>
          </a:stretch>
        </p:blipFill>
        <p:spPr>
          <a:xfrm>
            <a:off x="6217920" y="1645920"/>
            <a:ext cx="5303520" cy="2983230"/>
          </a:xfrm>
          <a:prstGeom prst="rect">
            <a:avLst/>
          </a:prstGeom>
        </p:spPr>
      </p:pic>
      <p:sp>
        <p:nvSpPr>
          <p:cNvPr id="5" name="TextBox 4"/>
          <p:cNvSpPr txBox="1"/>
          <p:nvPr/>
        </p:nvSpPr>
        <p:spPr>
          <a:xfrm>
            <a:off x="731520" y="1645920"/>
            <a:ext cx="5120640" cy="4754880"/>
          </a:xfrm>
          <a:prstGeom prst="rect">
            <a:avLst/>
          </a:prstGeom>
          <a:noFill/>
        </p:spPr>
        <p:txBody>
          <a:bodyPr wrap="square">
            <a:spAutoFit/>
          </a:bodyPr>
          <a:lstStyle/>
          <a:p>
            <a:pPr>
              <a:spcAft>
                <a:spcPts val="200"/>
              </a:spcAft>
              <a:defRPr b="1" sz="1200">
                <a:solidFill>
                  <a:srgbClr val="D97706"/>
                </a:solidFill>
              </a:defRPr>
            </a:pPr>
            <a:r>
              <a:t>1. The Stimulus (Manufacturing Complete)</a:t>
            </a:r>
          </a:p>
          <a:p>
            <a:pPr>
              <a:spcAft>
                <a:spcPts val="600"/>
              </a:spcAft>
              <a:defRPr sz="1000">
                <a:solidFill>
                  <a:srgbClr val="0F172A"/>
                </a:solidFill>
              </a:defRPr>
            </a:pPr>
            <a:r>
              <a:t>Batch BAT-00010 finishes processing. MES marks lot 'Complete', ERP marks materials 'Consumed', courier is dispatched.</a:t>
            </a:r>
          </a:p>
          <a:p>
            <a:pPr>
              <a:spcAft>
                <a:spcPts val="200"/>
              </a:spcAft>
              <a:defRPr b="1" sz="1200">
                <a:solidFill>
                  <a:srgbClr val="64748B"/>
                </a:solidFill>
              </a:defRPr>
            </a:pPr>
            <a:r>
              <a:t>2. The Unsafe Shortcut</a:t>
            </a:r>
          </a:p>
          <a:p>
            <a:pPr>
              <a:spcAft>
                <a:spcPts val="600"/>
              </a:spcAft>
              <a:defRPr sz="1000">
                <a:solidFill>
                  <a:srgbClr val="0F172A"/>
                </a:solidFill>
              </a:defRPr>
            </a:pPr>
            <a:r>
              <a:t>Automated pipelines assume 'Processing Done' equals 'Release Approved' and update the patient portal to 'Infusion Ready'.</a:t>
            </a:r>
          </a:p>
          <a:p>
            <a:pPr>
              <a:spcAft>
                <a:spcPts val="200"/>
              </a:spcAft>
              <a:defRPr b="1" sz="1200">
                <a:solidFill>
                  <a:srgbClr val="0D9488"/>
                </a:solidFill>
              </a:defRPr>
            </a:pPr>
            <a:r>
              <a:t>3. Pre-Release Evidence Evaluation</a:t>
            </a:r>
          </a:p>
          <a:p>
            <a:pPr>
              <a:spcAft>
                <a:spcPts val="600"/>
              </a:spcAft>
              <a:defRPr sz="1000">
                <a:solidFill>
                  <a:srgbClr val="0F172A"/>
                </a:solidFill>
              </a:defRPr>
            </a:pPr>
            <a:r>
              <a:t>The orchestrator evaluates 4 mandatory packets: Identity Verification, Patient Consent v3, Cryo Temp Data, and QC Assays (Viability &gt; 70%).</a:t>
            </a:r>
          </a:p>
          <a:p>
            <a:pPr>
              <a:spcAft>
                <a:spcPts val="200"/>
              </a:spcAft>
              <a:defRPr b="1" sz="1200">
                <a:solidFill>
                  <a:srgbClr val="DC2626"/>
                </a:solidFill>
              </a:defRPr>
            </a:pPr>
            <a:r>
              <a:t>4. Deviation Blocker Detected</a:t>
            </a:r>
          </a:p>
          <a:p>
            <a:pPr>
              <a:spcAft>
                <a:spcPts val="600"/>
              </a:spcAft>
              <a:defRPr sz="1000">
                <a:solidFill>
                  <a:srgbClr val="0F172A"/>
                </a:solidFill>
              </a:defRPr>
            </a:pPr>
            <a:r>
              <a:t>Batch BAT-00010 has an open bioreactor pressure deviation DEV-00019. Automated release is strictly blocked; state remains RELEASE_PENDING.</a:t>
            </a:r>
          </a:p>
          <a:p>
            <a:pPr>
              <a:spcAft>
                <a:spcPts val="200"/>
              </a:spcAft>
              <a:defRPr b="1" sz="1200">
                <a:solidFill>
                  <a:srgbClr val="16A34A"/>
                </a:solidFill>
              </a:defRPr>
            </a:pPr>
            <a:r>
              <a:t>5. Human Quality Authorization</a:t>
            </a:r>
          </a:p>
          <a:p>
            <a:pPr>
              <a:spcAft>
                <a:spcPts val="600"/>
              </a:spcAft>
              <a:defRPr sz="1000">
                <a:solidFill>
                  <a:srgbClr val="0F172A"/>
                </a:solidFill>
              </a:defRPr>
            </a:pPr>
            <a:r>
              <a:t>Quality Authority reviews the closed investigation report, applies an authorized digital disposition, and transitions state to RELEASE_APPROVED.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12 / CENTRALIZED DASHBOARD</a:t>
            </a:r>
          </a:p>
          <a:p>
            <a:pPr>
              <a:spcAft>
                <a:spcPts val="400"/>
              </a:spcAft>
              <a:defRPr sz="2400" b="1">
                <a:solidFill>
                  <a:srgbClr val="0F172A"/>
                </a:solidFill>
              </a:defRPr>
            </a:pPr>
            <a:r>
              <a:t>Global Cohort Operations Across 800 Patients</a:t>
            </a:r>
          </a:p>
          <a:p>
            <a:pPr>
              <a:defRPr sz="1300">
                <a:solidFill>
                  <a:srgbClr val="64748B"/>
                </a:solidFill>
              </a:defRPr>
            </a:pPr>
            <a:r>
              <a:t>Centralized, real-time status tracking, multi-facet filtering, and longitudinal relational drilldowns</a:t>
            </a:r>
          </a:p>
        </p:txBody>
      </p:sp>
      <p:pic>
        <p:nvPicPr>
          <p:cNvPr id="4" name="Picture 3" descr="scene08.png"/>
          <p:cNvPicPr>
            <a:picLocks noChangeAspect="1"/>
          </p:cNvPicPr>
          <p:nvPr/>
        </p:nvPicPr>
        <p:blipFill>
          <a:blip r:embed="rId2"/>
          <a:stretch>
            <a:fillRect/>
          </a:stretch>
        </p:blipFill>
        <p:spPr>
          <a:xfrm>
            <a:off x="6217920" y="1645920"/>
            <a:ext cx="5303520" cy="2983230"/>
          </a:xfrm>
          <a:prstGeom prst="rect">
            <a:avLst/>
          </a:prstGeom>
        </p:spPr>
      </p:pic>
      <p:sp>
        <p:nvSpPr>
          <p:cNvPr id="5" name="TextBox 4"/>
          <p:cNvSpPr txBox="1"/>
          <p:nvPr/>
        </p:nvSpPr>
        <p:spPr>
          <a:xfrm>
            <a:off x="731520" y="1645920"/>
            <a:ext cx="5120640" cy="4754880"/>
          </a:xfrm>
          <a:prstGeom prst="rect">
            <a:avLst/>
          </a:prstGeom>
          <a:noFill/>
        </p:spPr>
        <p:txBody>
          <a:bodyPr wrap="square">
            <a:spAutoFit/>
          </a:bodyPr>
          <a:lstStyle/>
          <a:p>
            <a:pPr>
              <a:spcAft>
                <a:spcPts val="800"/>
              </a:spcAft>
              <a:defRPr b="1" sz="1200">
                <a:solidFill>
                  <a:srgbClr val="0D9488"/>
                </a:solidFill>
              </a:defRPr>
            </a:pPr>
            <a:r>
              <a:t>• Real-Time KPI Strip: </a:t>
            </a:r>
            <a:r>
              <a:rPr b="0">
                <a:solidFill>
                  <a:srgbClr val="0F172A"/>
                </a:solidFill>
              </a:rPr>
              <a:t>Live visibility across all 800 patients: 673 Active Cohort, 127 Completed Cohort, 145 Active QA Holds, and 25 Governed Infusion Ready.</a:t>
            </a:r>
          </a:p>
          <a:p>
            <a:pPr>
              <a:spcAft>
                <a:spcPts val="800"/>
              </a:spcAft>
              <a:defRPr b="1" sz="1200">
                <a:solidFill>
                  <a:srgbClr val="06B6D4"/>
                </a:solidFill>
              </a:defRPr>
            </a:pPr>
            <a:r>
              <a:t>• Multi-Facet Live Filtering: </a:t>
            </a:r>
            <a:r>
              <a:rPr b="0">
                <a:solidFill>
                  <a:srgbClr val="0F172A"/>
                </a:solidFill>
              </a:rPr>
              <a:t>Filter dynamically by Journey Phase (Enrolled, Apheresis, Mfg, QC, QA Hold, Infusion Ready), Product Code (CGT-A1, CGT-C3), Treatment Center, and Cohort.</a:t>
            </a:r>
          </a:p>
          <a:p>
            <a:pPr>
              <a:spcAft>
                <a:spcPts val="800"/>
              </a:spcAft>
              <a:defRPr b="1" sz="1200">
                <a:solidFill>
                  <a:srgbClr val="0F172A"/>
                </a:solidFill>
              </a:defRPr>
            </a:pPr>
            <a:r>
              <a:t>• Dual View Modes: </a:t>
            </a:r>
            <a:r>
              <a:rPr b="0">
                <a:solidFill>
                  <a:srgbClr val="0F172A"/>
                </a:solidFill>
              </a:rPr>
              <a:t>Responsive tabular operations view with status dimension pills (Journey Position vs Governing Readiness vs Infusion Auth) and modular card grid.</a:t>
            </a:r>
          </a:p>
          <a:p>
            <a:pPr>
              <a:spcAft>
                <a:spcPts val="800"/>
              </a:spcAft>
              <a:defRPr b="1" sz="1200">
                <a:solidFill>
                  <a:srgbClr val="16A34A"/>
                </a:solidFill>
              </a:defRPr>
            </a:pPr>
            <a:r>
              <a:t>• Longitudinal Relational Modals: </a:t>
            </a:r>
            <a:r>
              <a:rPr b="0">
                <a:solidFill>
                  <a:srgbClr val="0F172A"/>
                </a:solidFill>
              </a:rPr>
              <a:t>Clicking any patient opens full linked history: Shipments, Manufacturing Slots, QC Release Packets, Deviations, Consents, and Insurance Authorizations.</a:t>
            </a:r>
          </a:p>
          <a:p>
            <a:pPr>
              <a:spcAft>
                <a:spcPts val="800"/>
              </a:spcAft>
              <a:defRPr b="1" sz="1200">
                <a:solidFill>
                  <a:srgbClr val="D97706"/>
                </a:solidFill>
              </a:defRPr>
            </a:pPr>
            <a:r>
              <a:t>• Disruption Simulator Transfer: </a:t>
            </a:r>
            <a:r>
              <a:rPr b="0">
                <a:solidFill>
                  <a:srgbClr val="0F172A"/>
                </a:solidFill>
              </a:rPr>
              <a:t>One-click prefill transfers any selected patient into the non-authoritative Disruption Impact Preview engine.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13 / COHORT ANALYTICS</a:t>
            </a:r>
          </a:p>
          <a:p>
            <a:pPr>
              <a:spcAft>
                <a:spcPts val="400"/>
              </a:spcAft>
              <a:defRPr sz="2400" b="1">
                <a:solidFill>
                  <a:srgbClr val="0F172A"/>
                </a:solidFill>
              </a:defRPr>
            </a:pPr>
            <a:r>
              <a:t>Forensic Breakdown of the 800-Patient Baseline</a:t>
            </a:r>
          </a:p>
          <a:p>
            <a:pPr>
              <a:defRPr sz="1300">
                <a:solidFill>
                  <a:srgbClr val="64748B"/>
                </a:solidFill>
              </a:defRPr>
            </a:pPr>
            <a:r>
              <a:t>Population-level distribution across manufacturing, logistics, QA hold, and infusion readiness</a:t>
            </a:r>
          </a:p>
        </p:txBody>
      </p:sp>
      <p:sp>
        <p:nvSpPr>
          <p:cNvPr id="4" name="Rounded Rectangle 3"/>
          <p:cNvSpPr/>
          <p:nvPr/>
        </p:nvSpPr>
        <p:spPr>
          <a:xfrm>
            <a:off x="731520" y="1828800"/>
            <a:ext cx="338328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3600" b="1">
                <a:solidFill>
                  <a:srgbClr val="0F172A"/>
                </a:solidFill>
              </a:defRPr>
            </a:pPr>
            <a:r>
              <a:t>800</a:t>
            </a:r>
          </a:p>
          <a:p>
            <a:pPr>
              <a:spcAft>
                <a:spcPts val="400"/>
              </a:spcAft>
              <a:defRPr sz="1300" b="1">
                <a:solidFill>
                  <a:srgbClr val="0F172A"/>
                </a:solidFill>
              </a:defRPr>
            </a:pPr>
            <a:r>
              <a:t>Total Patient Population</a:t>
            </a:r>
          </a:p>
          <a:p>
            <a:pPr>
              <a:defRPr sz="950">
                <a:solidFill>
                  <a:srgbClr val="64748B"/>
                </a:solidFill>
              </a:defRPr>
            </a:pPr>
            <a:r>
              <a:t>Full synthetic cohort evaluated across 132 raw brownfield evidence tables</a:t>
            </a:r>
          </a:p>
        </p:txBody>
      </p:sp>
      <p:sp>
        <p:nvSpPr>
          <p:cNvPr id="5" name="Rounded Rectangle 4"/>
          <p:cNvSpPr/>
          <p:nvPr/>
        </p:nvSpPr>
        <p:spPr>
          <a:xfrm>
            <a:off x="4297680" y="1828800"/>
            <a:ext cx="338328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3600" b="1">
                <a:solidFill>
                  <a:srgbClr val="0D9488"/>
                </a:solidFill>
              </a:defRPr>
            </a:pPr>
            <a:r>
              <a:t>673</a:t>
            </a:r>
          </a:p>
          <a:p>
            <a:pPr>
              <a:spcAft>
                <a:spcPts val="400"/>
              </a:spcAft>
              <a:defRPr sz="1300" b="1">
                <a:solidFill>
                  <a:srgbClr val="0F172A"/>
                </a:solidFill>
              </a:defRPr>
            </a:pPr>
            <a:r>
              <a:t>Active In-Flight Cohort</a:t>
            </a:r>
          </a:p>
          <a:p>
            <a:pPr>
              <a:defRPr sz="950">
                <a:solidFill>
                  <a:srgbClr val="64748B"/>
                </a:solidFill>
              </a:defRPr>
            </a:pPr>
            <a:r>
              <a:t>Patients actively progressing across enrollment, collection, mfg, and transit</a:t>
            </a:r>
          </a:p>
        </p:txBody>
      </p:sp>
      <p:sp>
        <p:nvSpPr>
          <p:cNvPr id="6" name="Rounded Rectangle 5"/>
          <p:cNvSpPr/>
          <p:nvPr/>
        </p:nvSpPr>
        <p:spPr>
          <a:xfrm>
            <a:off x="7863840" y="1828800"/>
            <a:ext cx="338328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3600" b="1">
                <a:solidFill>
                  <a:srgbClr val="16A34A"/>
                </a:solidFill>
              </a:defRPr>
            </a:pPr>
            <a:r>
              <a:t>127</a:t>
            </a:r>
          </a:p>
          <a:p>
            <a:pPr>
              <a:spcAft>
                <a:spcPts val="400"/>
              </a:spcAft>
              <a:defRPr sz="1300" b="1">
                <a:solidFill>
                  <a:srgbClr val="0F172A"/>
                </a:solidFill>
              </a:defRPr>
            </a:pPr>
            <a:r>
              <a:t>Completed Therapies</a:t>
            </a:r>
          </a:p>
          <a:p>
            <a:pPr>
              <a:defRPr sz="950">
                <a:solidFill>
                  <a:srgbClr val="64748B"/>
                </a:solidFill>
              </a:defRPr>
            </a:pPr>
            <a:r>
              <a:t>Patients who successfully received cellular infusion under governed protocols</a:t>
            </a:r>
          </a:p>
        </p:txBody>
      </p:sp>
      <p:sp>
        <p:nvSpPr>
          <p:cNvPr id="7" name="Rounded Rectangle 6"/>
          <p:cNvSpPr/>
          <p:nvPr/>
        </p:nvSpPr>
        <p:spPr>
          <a:xfrm>
            <a:off x="731520" y="4114800"/>
            <a:ext cx="338328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3600" b="1">
                <a:solidFill>
                  <a:srgbClr val="DC2626"/>
                </a:solidFill>
              </a:defRPr>
            </a:pPr>
            <a:r>
              <a:t>145</a:t>
            </a:r>
          </a:p>
          <a:p>
            <a:pPr>
              <a:spcAft>
                <a:spcPts val="400"/>
              </a:spcAft>
              <a:defRPr sz="1300" b="1">
                <a:solidFill>
                  <a:srgbClr val="0F172A"/>
                </a:solidFill>
              </a:defRPr>
            </a:pPr>
            <a:r>
              <a:t>Total QA Discrepancies</a:t>
            </a:r>
          </a:p>
          <a:p>
            <a:pPr>
              <a:defRPr sz="950">
                <a:solidFill>
                  <a:srgbClr val="64748B"/>
                </a:solidFill>
              </a:defRPr>
            </a:pPr>
            <a:r>
              <a:t>Batches flagged with open manufacturing deviations, equipment alarms, or holds</a:t>
            </a:r>
          </a:p>
        </p:txBody>
      </p:sp>
      <p:sp>
        <p:nvSpPr>
          <p:cNvPr id="8" name="Rounded Rectangle 7"/>
          <p:cNvSpPr/>
          <p:nvPr/>
        </p:nvSpPr>
        <p:spPr>
          <a:xfrm>
            <a:off x="4297680" y="4114800"/>
            <a:ext cx="338328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3600" b="1">
                <a:solidFill>
                  <a:srgbClr val="06B6D4"/>
                </a:solidFill>
              </a:defRPr>
            </a:pPr>
            <a:r>
              <a:t>57</a:t>
            </a:r>
          </a:p>
          <a:p>
            <a:pPr>
              <a:spcAft>
                <a:spcPts val="400"/>
              </a:spcAft>
              <a:defRPr sz="1300" b="1">
                <a:solidFill>
                  <a:srgbClr val="0F172A"/>
                </a:solidFill>
              </a:defRPr>
            </a:pPr>
            <a:r>
              <a:t>Physically at Treatment Site</a:t>
            </a:r>
          </a:p>
          <a:p>
            <a:pPr>
              <a:defRPr sz="950">
                <a:solidFill>
                  <a:srgbClr val="64748B"/>
                </a:solidFill>
              </a:defRPr>
            </a:pPr>
            <a:r>
              <a:t>Cell product staged in hospital dry vapor LN2 dewars awaiting clinical readiness</a:t>
            </a:r>
          </a:p>
        </p:txBody>
      </p:sp>
      <p:sp>
        <p:nvSpPr>
          <p:cNvPr id="9" name="Rounded Rectangle 8"/>
          <p:cNvSpPr/>
          <p:nvPr/>
        </p:nvSpPr>
        <p:spPr>
          <a:xfrm>
            <a:off x="7863840" y="4114800"/>
            <a:ext cx="338328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3600" b="1">
                <a:solidFill>
                  <a:srgbClr val="16A34A"/>
                </a:solidFill>
              </a:defRPr>
            </a:pPr>
            <a:r>
              <a:t>25</a:t>
            </a:r>
          </a:p>
          <a:p>
            <a:pPr>
              <a:spcAft>
                <a:spcPts val="400"/>
              </a:spcAft>
              <a:defRPr sz="1300" b="1">
                <a:solidFill>
                  <a:srgbClr val="0F172A"/>
                </a:solidFill>
              </a:defRPr>
            </a:pPr>
            <a:r>
              <a:t>Strictly Infusion Ready</a:t>
            </a:r>
          </a:p>
          <a:p>
            <a:pPr>
              <a:defRPr sz="950">
                <a:solidFill>
                  <a:srgbClr val="64748B"/>
                </a:solidFill>
              </a:defRPr>
            </a:pPr>
            <a:r>
              <a:t>Batches physically at site WITH verified QMS release and zero blocking holds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14 / CASE STUDY</a:t>
            </a:r>
          </a:p>
          <a:p>
            <a:pPr>
              <a:spcAft>
                <a:spcPts val="400"/>
              </a:spcAft>
              <a:defRPr sz="2400" b="1">
                <a:solidFill>
                  <a:srgbClr val="0F172A"/>
                </a:solidFill>
              </a:defRPr>
            </a:pPr>
            <a:r>
              <a:t>Patient P-00013: Cameron Wilson &amp; The QA Hold Quagmire</a:t>
            </a:r>
          </a:p>
          <a:p>
            <a:pPr>
              <a:defRPr sz="1300">
                <a:solidFill>
                  <a:srgbClr val="64748B"/>
                </a:solidFill>
              </a:defRPr>
            </a:pPr>
            <a:r>
              <a:t>How the orchestrator prevents a lethal clinical error despite misleading physical staging</a:t>
            </a:r>
          </a:p>
        </p:txBody>
      </p:sp>
      <p:sp>
        <p:nvSpPr>
          <p:cNvPr id="4" name="Rounded Rectangle 3"/>
          <p:cNvSpPr/>
          <p:nvPr/>
        </p:nvSpPr>
        <p:spPr>
          <a:xfrm>
            <a:off x="731520" y="1828800"/>
            <a:ext cx="51206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600"/>
              </a:spcAft>
              <a:defRPr sz="1100" b="1">
                <a:solidFill>
                  <a:srgbClr val="0D9488"/>
                </a:solidFill>
              </a:defRPr>
            </a:pPr>
            <a:r>
              <a:t>PATIENT PROFILE: P-00013</a:t>
            </a:r>
          </a:p>
          <a:p>
            <a:pPr>
              <a:spcAft>
                <a:spcPts val="600"/>
              </a:spcAft>
              <a:defRPr sz="1050">
                <a:solidFill>
                  <a:srgbClr val="0F172A"/>
                </a:solidFill>
              </a:defRPr>
            </a:pPr>
            <a:r>
              <a:t>• Patient: Cameron Wilson (DOB: 1992-01-21)</a:t>
            </a:r>
          </a:p>
          <a:p>
            <a:pPr>
              <a:spcAft>
                <a:spcPts val="600"/>
              </a:spcAft>
              <a:defRPr sz="1050">
                <a:solidFill>
                  <a:srgbClr val="0F172A"/>
                </a:solidFill>
              </a:defRPr>
            </a:pPr>
            <a:r>
              <a:t>• Therapy: CGT-C3 autologous CAR-T</a:t>
            </a:r>
          </a:p>
          <a:p>
            <a:pPr>
              <a:spcAft>
                <a:spcPts val="600"/>
              </a:spcAft>
              <a:defRPr sz="1050">
                <a:solidFill>
                  <a:srgbClr val="0F172A"/>
                </a:solidFill>
              </a:defRPr>
            </a:pPr>
            <a:r>
              <a:t>• Hospital: TC-DE-BER-01 (Berlin Treatment Center)</a:t>
            </a:r>
          </a:p>
          <a:p>
            <a:pPr>
              <a:spcAft>
                <a:spcPts val="600"/>
              </a:spcAft>
              <a:defRPr sz="1050">
                <a:solidFill>
                  <a:srgbClr val="0F172A"/>
                </a:solidFill>
              </a:defRPr>
            </a:pPr>
            <a:r>
              <a:t>• Physical Location: Returned to Site / Staged in dewar</a:t>
            </a:r>
          </a:p>
          <a:p>
            <a:pPr>
              <a:spcAft>
                <a:spcPts val="600"/>
              </a:spcAft>
              <a:defRPr sz="1050">
                <a:solidFill>
                  <a:srgbClr val="0F172A"/>
                </a:solidFill>
              </a:defRPr>
            </a:pPr>
            <a:r>
              <a:t>• Clinical Export Status: INFUSION_READY (Misleading)</a:t>
            </a:r>
          </a:p>
          <a:p>
            <a:pPr>
              <a:spcAft>
                <a:spcPts val="600"/>
              </a:spcAft>
              <a:defRPr sz="1050">
                <a:solidFill>
                  <a:srgbClr val="0F172A"/>
                </a:solidFill>
              </a:defRPr>
            </a:pPr>
            <a:r>
              <a:t>• Batches Table Truth: BAT-00013 flags hold_status = HOLD and qms_status = QA_HOLD</a:t>
            </a:r>
          </a:p>
          <a:p>
            <a:pPr>
              <a:spcAft>
                <a:spcPts val="600"/>
              </a:spcAft>
              <a:defRPr sz="1050">
                <a:solidFill>
                  <a:srgbClr val="0F172A"/>
                </a:solidFill>
              </a:defRPr>
            </a:pPr>
            <a:r>
              <a:t>• Deviations Table Reality: No linked row exists in deviations.csv (Orphaned source hold flag)</a:t>
            </a:r>
          </a:p>
        </p:txBody>
      </p:sp>
      <p:sp>
        <p:nvSpPr>
          <p:cNvPr id="5" name="Rounded Rectangle 4"/>
          <p:cNvSpPr/>
          <p:nvPr/>
        </p:nvSpPr>
        <p:spPr>
          <a:xfrm>
            <a:off x="6217920" y="1828800"/>
            <a:ext cx="5212080" cy="438912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600"/>
              </a:spcAft>
              <a:defRPr sz="1100" b="1">
                <a:solidFill>
                  <a:srgbClr val="DC2626"/>
                </a:solidFill>
              </a:defRPr>
            </a:pPr>
            <a:r>
              <a:t>ORCHESTRATOR RESOLUTION</a:t>
            </a:r>
          </a:p>
          <a:p>
            <a:pPr>
              <a:spcAft>
                <a:spcPts val="800"/>
              </a:spcAft>
              <a:defRPr b="1" sz="1100">
                <a:solidFill>
                  <a:srgbClr val="0F172A"/>
                </a:solidFill>
              </a:defRPr>
            </a:pPr>
            <a:r>
              <a:t>Journey Status: </a:t>
            </a:r>
            <a:r>
              <a:rPr b="0">
                <a:solidFill>
                  <a:srgbClr val="64748B"/>
                </a:solidFill>
              </a:rPr>
              <a:t>Returned to Site (Quarantined)</a:t>
            </a:r>
          </a:p>
          <a:p>
            <a:pPr>
              <a:spcAft>
                <a:spcPts val="800"/>
              </a:spcAft>
              <a:defRPr b="1" sz="1100">
                <a:solidFill>
                  <a:srgbClr val="0F172A"/>
                </a:solidFill>
              </a:defRPr>
            </a:pPr>
            <a:r>
              <a:t>Governing Readiness: </a:t>
            </a:r>
            <a:r>
              <a:rPr b="0">
                <a:solidFill>
                  <a:srgbClr val="DC2626"/>
                </a:solidFill>
              </a:rPr>
              <a:t>BLOCKED — QA HOLD</a:t>
            </a:r>
          </a:p>
          <a:p>
            <a:pPr>
              <a:spcAft>
                <a:spcPts val="800"/>
              </a:spcAft>
              <a:defRPr b="1" sz="1100">
                <a:solidFill>
                  <a:srgbClr val="0F172A"/>
                </a:solidFill>
              </a:defRPr>
            </a:pPr>
            <a:r>
              <a:t>Infusion Authorization: </a:t>
            </a:r>
            <a:r>
              <a:rPr b="0">
                <a:solidFill>
                  <a:srgbClr val="DC2626"/>
                </a:solidFill>
              </a:rPr>
              <a:t>STRICTLY PROHIBITED</a:t>
            </a:r>
          </a:p>
          <a:p>
            <a:pPr>
              <a:spcAft>
                <a:spcPts val="800"/>
              </a:spcAft>
              <a:defRPr b="1" sz="1100">
                <a:solidFill>
                  <a:srgbClr val="0F172A"/>
                </a:solidFill>
              </a:defRPr>
            </a:pPr>
            <a:r>
              <a:t>Quality Disposition Ref: </a:t>
            </a:r>
            <a:r>
              <a:rPr b="0">
                <a:solidFill>
                  <a:srgbClr val="64748B"/>
                </a:solidFill>
              </a:rPr>
              <a:t>UNLINKED_SOURCE_HOLD_FLAG</a:t>
            </a:r>
          </a:p>
          <a:p>
            <a:pPr>
              <a:spcAft>
                <a:spcPts val="800"/>
              </a:spcAft>
              <a:defRPr b="1" sz="1100">
                <a:solidFill>
                  <a:srgbClr val="0F172A"/>
                </a:solidFill>
              </a:defRPr>
            </a:pPr>
            <a:r>
              <a:t>Hold Category: </a:t>
            </a:r>
            <a:r>
              <a:rPr b="0">
                <a:solidFill>
                  <a:srgbClr val="64748B"/>
                </a:solidFill>
              </a:rPr>
              <a:t>ACTIVE_MANUFACTURING_HOLD</a:t>
            </a:r>
          </a:p>
          <a:p>
            <a:pPr>
              <a:spcAft>
                <a:spcPts val="800"/>
              </a:spcAft>
              <a:defRPr b="1" sz="1100">
                <a:solidFill>
                  <a:srgbClr val="0F172A"/>
                </a:solidFill>
              </a:defRPr>
            </a:pPr>
            <a:r>
              <a:t>Clinical Risk Note: </a:t>
            </a:r>
            <a:r>
              <a:rPr b="0">
                <a:solidFill>
                  <a:srgbClr val="64748B"/>
                </a:solidFill>
              </a:rPr>
              <a:t>Authoritative QMS release is on HOLD. Physical quarantine required; clinical administration is strictly prohibited.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15 / DATA INTEGRITY</a:t>
            </a:r>
          </a:p>
          <a:p>
            <a:pPr>
              <a:spcAft>
                <a:spcPts val="400"/>
              </a:spcAft>
              <a:defRPr sz="2400" b="1">
                <a:solidFill>
                  <a:srgbClr val="0F172A"/>
                </a:solidFill>
              </a:defRPr>
            </a:pPr>
            <a:r>
              <a:t>Zero-Fabrication GxP Engineering Discipline</a:t>
            </a:r>
          </a:p>
          <a:p>
            <a:pPr>
              <a:defRPr sz="1300">
                <a:solidFill>
                  <a:srgbClr val="64748B"/>
                </a:solidFill>
              </a:defRPr>
            </a:pPr>
            <a:r>
              <a:t>Rigorous resolution of the domain logic flaws uncovered during forensic code inspection</a:t>
            </a:r>
          </a:p>
        </p:txBody>
      </p:sp>
      <p:sp>
        <p:nvSpPr>
          <p:cNvPr id="4" name="Rounded Rectangle 3"/>
          <p:cNvSpPr/>
          <p:nvPr/>
        </p:nvSpPr>
        <p:spPr>
          <a:xfrm>
            <a:off x="731520" y="1828800"/>
            <a:ext cx="1069848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400" b="1">
                <a:solidFill>
                  <a:srgbClr val="DC2626"/>
                </a:solidFill>
              </a:defRPr>
            </a:pPr>
            <a:r>
              <a:t>Flaw: False Positive 'Infusion Ready' Records</a:t>
            </a:r>
          </a:p>
          <a:p>
            <a:pPr>
              <a:defRPr sz="1100">
                <a:solidFill>
                  <a:srgbClr val="0F172A"/>
                </a:solidFill>
              </a:defRPr>
            </a:pPr>
            <a:r>
              <a:t>Prototype Flaw: 18 out of 40 patients marked 'Infusion Ready' had QMS status PENDING in source tables.</a:t>
            </a:r>
            <a:br/>
            <a:r>
              <a:t>Our Fix: Readiness strictly requires qms_release_status == 'RELEASED' and not has_hold. Exactly 25 patients qualify globally.</a:t>
            </a:r>
          </a:p>
        </p:txBody>
      </p:sp>
      <p:sp>
        <p:nvSpPr>
          <p:cNvPr id="5" name="Rounded Rectangle 4"/>
          <p:cNvSpPr/>
          <p:nvPr/>
        </p:nvSpPr>
        <p:spPr>
          <a:xfrm>
            <a:off x="731520" y="3383280"/>
            <a:ext cx="1069848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400" b="1">
                <a:solidFill>
                  <a:srgbClr val="D97706"/>
                </a:solidFill>
              </a:defRPr>
            </a:pPr>
            <a:r>
              <a:t>Flaw: Fabricated CAPA Identifiers &amp; Hold Dates</a:t>
            </a:r>
          </a:p>
          <a:p>
            <a:pPr>
              <a:defRPr sz="1100">
                <a:solidFill>
                  <a:srgbClr val="0F172A"/>
                </a:solidFill>
              </a:defRPr>
            </a:pPr>
            <a:r>
              <a:t>Prototype Flaw: Fabricated strings like 'CAPA-2026-HOLD-${patient_key}' and made-up opening timestamps.</a:t>
            </a:r>
            <a:br/>
            <a:r>
              <a:t>Our Fix: Never invents CAPAs. Uses true deviation IDs or assigns UNLINKED_SOURCE_HOLD_FLAG with opened_at: None.</a:t>
            </a:r>
          </a:p>
        </p:txBody>
      </p:sp>
      <p:sp>
        <p:nvSpPr>
          <p:cNvPr id="6" name="Rounded Rectangle 5"/>
          <p:cNvSpPr/>
          <p:nvPr/>
        </p:nvSpPr>
        <p:spPr>
          <a:xfrm>
            <a:off x="731520" y="4937760"/>
            <a:ext cx="1069848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400" b="1">
                <a:solidFill>
                  <a:srgbClr val="0D9488"/>
                </a:solidFill>
              </a:defRPr>
            </a:pPr>
            <a:r>
              <a:t>Flaw: Imaginary 'Administered Under Exception' Claims</a:t>
            </a:r>
          </a:p>
          <a:p>
            <a:pPr>
              <a:defRPr sz="1100">
                <a:solidFill>
                  <a:srgbClr val="0F172A"/>
                </a:solidFill>
              </a:defRPr>
            </a:pPr>
            <a:r>
              <a:t>Prototype Flaw: Claimed infused patients with open holds were administered under authorized clinical exceptions.</a:t>
            </a:r>
            <a:br/>
            <a:r>
              <a:t>Our Fix: Categorized honestly as INFUSED_WITH_UNRESOLVED_DISCREPANCY—an explicit audit finding requiring investigation.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16 / VERIFICATION POSTURE</a:t>
            </a:r>
          </a:p>
          <a:p>
            <a:pPr>
              <a:spcAft>
                <a:spcPts val="400"/>
              </a:spcAft>
              <a:defRPr sz="2400" b="1">
                <a:solidFill>
                  <a:srgbClr val="0F172A"/>
                </a:solidFill>
              </a:defRPr>
            </a:pPr>
            <a:r>
              <a:t>Calibrated Assurance: 118 Tests &amp; 17/17 Passing Gates</a:t>
            </a:r>
          </a:p>
          <a:p>
            <a:pPr>
              <a:defRPr sz="1300">
                <a:solidFill>
                  <a:srgbClr val="64748B"/>
                </a:solidFill>
              </a:defRPr>
            </a:pPr>
            <a:r>
              <a:t>Continuous automated verification enforced by GitHub Actions CI and cryptographic digests</a:t>
            </a:r>
          </a:p>
        </p:txBody>
      </p:sp>
      <p:pic>
        <p:nvPicPr>
          <p:cNvPr id="4" name="Picture 3" descr="scene09.png"/>
          <p:cNvPicPr>
            <a:picLocks noChangeAspect="1"/>
          </p:cNvPicPr>
          <p:nvPr/>
        </p:nvPicPr>
        <p:blipFill>
          <a:blip r:embed="rId2"/>
          <a:stretch>
            <a:fillRect/>
          </a:stretch>
        </p:blipFill>
        <p:spPr>
          <a:xfrm>
            <a:off x="6217920" y="1645920"/>
            <a:ext cx="5303520" cy="2983230"/>
          </a:xfrm>
          <a:prstGeom prst="rect">
            <a:avLst/>
          </a:prstGeom>
        </p:spPr>
      </p:pic>
      <p:sp>
        <p:nvSpPr>
          <p:cNvPr id="5" name="TextBox 4"/>
          <p:cNvSpPr txBox="1"/>
          <p:nvPr/>
        </p:nvSpPr>
        <p:spPr>
          <a:xfrm>
            <a:off x="731520" y="1645920"/>
            <a:ext cx="5120640" cy="4754880"/>
          </a:xfrm>
          <a:prstGeom prst="rect">
            <a:avLst/>
          </a:prstGeom>
          <a:noFill/>
        </p:spPr>
        <p:txBody>
          <a:bodyPr wrap="square">
            <a:spAutoFit/>
          </a:bodyPr>
          <a:lstStyle/>
          <a:p>
            <a:pPr>
              <a:spcAft>
                <a:spcPts val="600"/>
              </a:spcAft>
              <a:defRPr b="1" sz="1100">
                <a:solidFill>
                  <a:srgbClr val="16A34A"/>
                </a:solidFill>
              </a:defRPr>
            </a:pPr>
            <a:r>
              <a:t>✓ Automated Tests: </a:t>
            </a:r>
            <a:r>
              <a:rPr b="0">
                <a:solidFill>
                  <a:srgbClr val="0F172A"/>
                </a:solidFill>
              </a:rPr>
              <a:t>118 passed in 3.19s (Unit, Integration, E2E, Chaos Recovery, Performance)</a:t>
            </a:r>
          </a:p>
          <a:p>
            <a:pPr>
              <a:spcAft>
                <a:spcPts val="600"/>
              </a:spcAft>
              <a:defRPr b="1" sz="1100">
                <a:solidFill>
                  <a:srgbClr val="16A34A"/>
                </a:solidFill>
              </a:defRPr>
            </a:pPr>
            <a:r>
              <a:t>✓ Code Coverage: </a:t>
            </a:r>
            <a:r>
              <a:rPr b="0">
                <a:solidFill>
                  <a:srgbClr val="0F172A"/>
                </a:solidFill>
              </a:rPr>
              <a:t>96.22% total coverage (Surpasses strict 94.00% fail-under gate)</a:t>
            </a:r>
          </a:p>
          <a:p>
            <a:pPr>
              <a:spcAft>
                <a:spcPts val="600"/>
              </a:spcAft>
              <a:defRPr b="1" sz="1100">
                <a:solidFill>
                  <a:srgbClr val="16A34A"/>
                </a:solidFill>
              </a:defRPr>
            </a:pPr>
            <a:r>
              <a:t>✓ Static Type Analysis: </a:t>
            </a:r>
            <a:r>
              <a:rPr b="0">
                <a:solidFill>
                  <a:srgbClr val="0F172A"/>
                </a:solidFill>
              </a:rPr>
              <a:t>Mypy strict: Success with 0 issues across 24 source files</a:t>
            </a:r>
          </a:p>
          <a:p>
            <a:pPr>
              <a:spcAft>
                <a:spcPts val="600"/>
              </a:spcAft>
              <a:defRPr b="1" sz="1100">
                <a:solidFill>
                  <a:srgbClr val="16A34A"/>
                </a:solidFill>
              </a:defRPr>
            </a:pPr>
            <a:r>
              <a:t>✓ Code Formatting &amp; Linting: </a:t>
            </a:r>
            <a:r>
              <a:rPr b="0">
                <a:solidFill>
                  <a:srgbClr val="0F172A"/>
                </a:solidFill>
              </a:rPr>
              <a:t>Ruff: All checks passed with 0 errors</a:t>
            </a:r>
          </a:p>
          <a:p>
            <a:pPr>
              <a:spcAft>
                <a:spcPts val="600"/>
              </a:spcAft>
              <a:defRPr b="1" sz="1100">
                <a:solidFill>
                  <a:srgbClr val="16A34A"/>
                </a:solidFill>
              </a:defRPr>
            </a:pPr>
            <a:r>
              <a:t>✓ Security &amp; Credential Scan: </a:t>
            </a:r>
            <a:r>
              <a:rPr b="0">
                <a:solidFill>
                  <a:srgbClr val="0F172A"/>
                </a:solidFill>
              </a:rPr>
              <a:t>0 secrets / 0 credential patterns across 570 repository text files</a:t>
            </a:r>
          </a:p>
          <a:p>
            <a:pPr>
              <a:spcAft>
                <a:spcPts val="600"/>
              </a:spcAft>
              <a:defRPr b="1" sz="1100">
                <a:solidFill>
                  <a:srgbClr val="16A34A"/>
                </a:solidFill>
              </a:defRPr>
            </a:pPr>
            <a:r>
              <a:t>✓ Evidence Integrity: </a:t>
            </a:r>
            <a:r>
              <a:rPr b="0">
                <a:solidFill>
                  <a:srgbClr val="0F172A"/>
                </a:solidFill>
              </a:rPr>
              <a:t>132/132 baseline files verified byte-for-byte via SHA-256 digests</a:t>
            </a:r>
          </a:p>
          <a:p>
            <a:pPr>
              <a:spcAft>
                <a:spcPts val="600"/>
              </a:spcAft>
              <a:defRPr b="1" sz="1100">
                <a:solidFill>
                  <a:srgbClr val="16A34A"/>
                </a:solidFill>
              </a:defRPr>
            </a:pPr>
            <a:r>
              <a:t>✓ Final Verification Suite: </a:t>
            </a:r>
            <a:r>
              <a:rPr b="0">
                <a:solidFill>
                  <a:srgbClr val="0F172A"/>
                </a:solidFill>
              </a:rPr>
              <a:t>tools/verify_final_capstone.py: 17/17 checks return PASS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17 / GOVERNANCE GATE</a:t>
            </a:r>
          </a:p>
          <a:p>
            <a:pPr>
              <a:spcAft>
                <a:spcPts val="400"/>
              </a:spcAft>
              <a:defRPr sz="2400" b="1">
                <a:solidFill>
                  <a:srgbClr val="0F172A"/>
                </a:solidFill>
              </a:defRPr>
            </a:pPr>
            <a:r>
              <a:t>G6 Lifecycle Decision: Why 'RESTRICT AND CHANGE' Is Correct</a:t>
            </a:r>
          </a:p>
          <a:p>
            <a:pPr>
              <a:defRPr sz="1300">
                <a:solidFill>
                  <a:srgbClr val="64748B"/>
                </a:solidFill>
              </a:defRPr>
            </a:pPr>
            <a:r>
              <a:t>Honest engineering boundaries: separating academic technical feasibility from clinical production readiness</a:t>
            </a:r>
          </a:p>
        </p:txBody>
      </p:sp>
      <p:sp>
        <p:nvSpPr>
          <p:cNvPr id="4" name="Rounded Rectangle 3"/>
          <p:cNvSpPr/>
          <p:nvPr/>
        </p:nvSpPr>
        <p:spPr>
          <a:xfrm>
            <a:off x="731520" y="1828800"/>
            <a:ext cx="3383280" cy="43891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400" b="1">
                <a:solidFill>
                  <a:srgbClr val="16A34A"/>
                </a:solidFill>
              </a:defRPr>
            </a:pPr>
            <a:r>
              <a:t>What Is Demonstrated &amp; Accepted</a:t>
            </a:r>
          </a:p>
          <a:p>
            <a:pPr>
              <a:spcAft>
                <a:spcPts val="1000"/>
              </a:spcAft>
              <a:defRPr sz="1100">
                <a:solidFill>
                  <a:srgbClr val="0F172A"/>
                </a:solidFill>
              </a:defRPr>
            </a:pPr>
            <a:r>
              <a:t>• Technical feasibility of evidence-driven orchestration</a:t>
            </a:r>
            <a:br/>
            <a:r>
              <a:t>• Tamper-evident SHA-256 audit chain verified</a:t>
            </a:r>
            <a:br/>
            <a:r>
              <a:t>• Bounded idempotent state machines with safe timeouts</a:t>
            </a:r>
            <a:br/>
            <a:r>
              <a:t>• Multi-role operations dashboard across 800 patients</a:t>
            </a:r>
            <a:br/>
            <a:r>
              <a:t>• 118 automated tests passing at 96.22% coverage</a:t>
            </a:r>
          </a:p>
        </p:txBody>
      </p:sp>
      <p:sp>
        <p:nvSpPr>
          <p:cNvPr id="5" name="Rounded Rectangle 4"/>
          <p:cNvSpPr/>
          <p:nvPr/>
        </p:nvSpPr>
        <p:spPr>
          <a:xfrm>
            <a:off x="4297680" y="1828800"/>
            <a:ext cx="3383280" cy="438912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400" b="1">
                <a:solidFill>
                  <a:srgbClr val="DC2626"/>
                </a:solidFill>
              </a:defRPr>
            </a:pPr>
            <a:r>
              <a:t>What Remains Restricted &amp; Prohibited</a:t>
            </a:r>
          </a:p>
          <a:p>
            <a:pPr>
              <a:spcAft>
                <a:spcPts val="1000"/>
              </a:spcAft>
              <a:defRPr sz="1100">
                <a:solidFill>
                  <a:srgbClr val="0F172A"/>
                </a:solidFill>
              </a:defRPr>
            </a:pPr>
            <a:r>
              <a:t>• Real patient data strictly prohibited (Synthetic only)</a:t>
            </a:r>
            <a:br/>
            <a:r>
              <a:t>• Consequential AI disabled (AI_MODE=off default)</a:t>
            </a:r>
            <a:br/>
            <a:r>
              <a:t>• Direct clinical administration prohibited</a:t>
            </a:r>
            <a:br/>
            <a:r>
              <a:t>• Automated Quality release prohibited</a:t>
            </a:r>
            <a:br/>
            <a:r>
              <a:t>• Production live-system deployments prohibited</a:t>
            </a:r>
          </a:p>
        </p:txBody>
      </p:sp>
      <p:sp>
        <p:nvSpPr>
          <p:cNvPr id="6" name="Rounded Rectangle 5"/>
          <p:cNvSpPr/>
          <p:nvPr/>
        </p:nvSpPr>
        <p:spPr>
          <a:xfrm>
            <a:off x="7863840" y="1828800"/>
            <a:ext cx="3383280" cy="43891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400" b="1">
                <a:solidFill>
                  <a:srgbClr val="0D9488"/>
                </a:solidFill>
              </a:defRPr>
            </a:pPr>
            <a:r>
              <a:t>Why 'Restrict &amp; Change' Is Correct</a:t>
            </a:r>
          </a:p>
          <a:p>
            <a:pPr>
              <a:spcAft>
                <a:spcPts val="1000"/>
              </a:spcAft>
              <a:defRPr sz="1100">
                <a:solidFill>
                  <a:srgbClr val="0F172A"/>
                </a:solidFill>
              </a:defRPr>
            </a:pPr>
            <a:r>
              <a:t>An engineer who claims 'validated production readiness' on synthetic academic data commits malpractice. Recommending 'RESTRICT AND CHANGE' demonstrates mature regulatory awareness and protects the enterprise.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D9488"/>
                </a:solidFill>
              </a:defRPr>
            </a:pPr>
            <a:r>
              <a:t>18 / ROADMAP</a:t>
            </a:r>
          </a:p>
          <a:p>
            <a:pPr>
              <a:spcAft>
                <a:spcPts val="400"/>
              </a:spcAft>
              <a:defRPr sz="2400" b="1">
                <a:solidFill>
                  <a:srgbClr val="0F172A"/>
                </a:solidFill>
              </a:defRPr>
            </a:pPr>
            <a:r>
              <a:t>The 90-Day Production Roadmap: Seven Actionable CAPAs</a:t>
            </a:r>
          </a:p>
          <a:p>
            <a:pPr>
              <a:defRPr sz="1300">
                <a:solidFill>
                  <a:srgbClr val="64748B"/>
                </a:solidFill>
              </a:defRPr>
            </a:pPr>
            <a:r>
              <a:t>The concrete engineering bridge from verified academic POC to clinical enterprise validation</a:t>
            </a:r>
          </a:p>
        </p:txBody>
      </p:sp>
      <p:sp>
        <p:nvSpPr>
          <p:cNvPr id="4" name="Rounded Rectangle 3"/>
          <p:cNvSpPr/>
          <p:nvPr/>
        </p:nvSpPr>
        <p:spPr>
          <a:xfrm>
            <a:off x="731520" y="1645920"/>
            <a:ext cx="1069848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b="1" sz="1100">
                <a:solidFill>
                  <a:srgbClr val="0D9488"/>
                </a:solidFill>
              </a:defRPr>
            </a:pPr>
            <a:r>
              <a:t>CAPA 1: Enterprise IAM &amp; SSO: </a:t>
            </a:r>
            <a:r>
              <a:rPr b="0">
                <a:solidFill>
                  <a:srgbClr val="0F172A"/>
                </a:solidFill>
              </a:rPr>
              <a:t>Transition from demo tokens to enterprise Okta/Azure AD OIDC with MFA and role claims.</a:t>
            </a:r>
          </a:p>
        </p:txBody>
      </p:sp>
      <p:sp>
        <p:nvSpPr>
          <p:cNvPr id="5" name="Rounded Rectangle 4"/>
          <p:cNvSpPr/>
          <p:nvPr/>
        </p:nvSpPr>
        <p:spPr>
          <a:xfrm>
            <a:off x="731520" y="2331720"/>
            <a:ext cx="1069848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b="1" sz="1100">
                <a:solidFill>
                  <a:srgbClr val="0D9488"/>
                </a:solidFill>
              </a:defRPr>
            </a:pPr>
            <a:r>
              <a:t>CAPA 2: HL7 / FHIR Integration: </a:t>
            </a:r>
            <a:r>
              <a:rPr b="0">
                <a:solidFill>
                  <a:srgbClr val="0F172A"/>
                </a:solidFill>
              </a:rPr>
              <a:t>Replace CSV parsers with validated HL7 v2 and FHIR R4 clinical EHR connectors.</a:t>
            </a:r>
          </a:p>
        </p:txBody>
      </p:sp>
      <p:sp>
        <p:nvSpPr>
          <p:cNvPr id="6" name="Rounded Rectangle 5"/>
          <p:cNvSpPr/>
          <p:nvPr/>
        </p:nvSpPr>
        <p:spPr>
          <a:xfrm>
            <a:off x="731520" y="3017520"/>
            <a:ext cx="1069848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b="1" sz="1100">
                <a:solidFill>
                  <a:srgbClr val="0D9488"/>
                </a:solidFill>
              </a:defRPr>
            </a:pPr>
            <a:r>
              <a:t>CAPA 3: Validated Digital Signatures: </a:t>
            </a:r>
            <a:r>
              <a:rPr b="0">
                <a:solidFill>
                  <a:srgbClr val="0F172A"/>
                </a:solidFill>
              </a:rPr>
              <a:t>Implement 21 CFR Part 11 compliant dual-factor electronic signatures with non-repudiation.</a:t>
            </a:r>
          </a:p>
        </p:txBody>
      </p:sp>
      <p:sp>
        <p:nvSpPr>
          <p:cNvPr id="7" name="Rounded Rectangle 6"/>
          <p:cNvSpPr/>
          <p:nvPr/>
        </p:nvSpPr>
        <p:spPr>
          <a:xfrm>
            <a:off x="731520" y="3703320"/>
            <a:ext cx="1069848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b="1" sz="1100">
                <a:solidFill>
                  <a:srgbClr val="0D9488"/>
                </a:solidFill>
              </a:defRPr>
            </a:pPr>
            <a:r>
              <a:t>CAPA 4: Hardware Security Module (HSM): </a:t>
            </a:r>
            <a:r>
              <a:rPr b="0">
                <a:solidFill>
                  <a:srgbClr val="0F172A"/>
                </a:solidFill>
              </a:rPr>
              <a:t>Anchor SHA-256 audit chain master keys in an enterprise cloud HSM (AWS KMS / Azure Key Vault).</a:t>
            </a:r>
          </a:p>
        </p:txBody>
      </p:sp>
      <p:sp>
        <p:nvSpPr>
          <p:cNvPr id="8" name="Rounded Rectangle 7"/>
          <p:cNvSpPr/>
          <p:nvPr/>
        </p:nvSpPr>
        <p:spPr>
          <a:xfrm>
            <a:off x="731520" y="4389120"/>
            <a:ext cx="1069848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b="1" sz="1100">
                <a:solidFill>
                  <a:srgbClr val="0D9488"/>
                </a:solidFill>
              </a:defRPr>
            </a:pPr>
            <a:r>
              <a:t>CAPA 5: Multi-Region Disaster Recovery: </a:t>
            </a:r>
            <a:r>
              <a:rPr b="0">
                <a:solidFill>
                  <a:srgbClr val="0F172A"/>
                </a:solidFill>
              </a:rPr>
              <a:t>Execute automated failover drills with RPO &lt; 1 min and RTO &lt; 15 min across cloud availability zones.</a:t>
            </a:r>
          </a:p>
        </p:txBody>
      </p:sp>
      <p:sp>
        <p:nvSpPr>
          <p:cNvPr id="9" name="Rounded Rectangle 8"/>
          <p:cNvSpPr/>
          <p:nvPr/>
        </p:nvSpPr>
        <p:spPr>
          <a:xfrm>
            <a:off x="731520" y="5074920"/>
            <a:ext cx="1069848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b="1" sz="1100">
                <a:solidFill>
                  <a:srgbClr val="0D9488"/>
                </a:solidFill>
              </a:defRPr>
            </a:pPr>
            <a:r>
              <a:t>CAPA 6: Controlled Human-Factor Studies: </a:t>
            </a:r>
            <a:r>
              <a:rPr b="0">
                <a:solidFill>
                  <a:srgbClr val="0F172A"/>
                </a:solidFill>
              </a:rPr>
              <a:t>Conduct formal GAMP 5 user-experience studies testing coordinator exception handling under stress.</a:t>
            </a:r>
          </a:p>
        </p:txBody>
      </p:sp>
      <p:sp>
        <p:nvSpPr>
          <p:cNvPr id="10" name="Rounded Rectangle 9"/>
          <p:cNvSpPr/>
          <p:nvPr/>
        </p:nvSpPr>
        <p:spPr>
          <a:xfrm>
            <a:off x="731520" y="5760720"/>
            <a:ext cx="1069848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b="1" sz="1100">
                <a:solidFill>
                  <a:srgbClr val="0D9488"/>
                </a:solidFill>
              </a:defRPr>
            </a:pPr>
            <a:r>
              <a:t>CAPA 7: Formal CSV / GAMP 5 Validation: </a:t>
            </a:r>
            <a:r>
              <a:rPr b="0">
                <a:solidFill>
                  <a:srgbClr val="0F172A"/>
                </a:solidFill>
              </a:rPr>
              <a:t>Complete full Installation, Operational, and Performance Qualification (IQ/OQ/PQ) protocols.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spcAft>
                <a:spcPts val="400"/>
              </a:spcAft>
              <a:defRPr sz="1100" b="1">
                <a:solidFill>
                  <a:srgbClr val="06B6D4"/>
                </a:solidFill>
              </a:defRPr>
            </a:pPr>
            <a:r>
              <a:t>19 / CONCLUSION</a:t>
            </a:r>
          </a:p>
          <a:p>
            <a:pPr>
              <a:spcAft>
                <a:spcPts val="400"/>
              </a:spcAft>
              <a:defRPr sz="2400" b="1">
                <a:solidFill>
                  <a:srgbClr val="FFFFFF"/>
                </a:solidFill>
              </a:defRPr>
            </a:pPr>
            <a:r>
              <a:t>Proven Control, Proven Integrity, Ready for Scaled CGT</a:t>
            </a:r>
          </a:p>
          <a:p>
            <a:pPr>
              <a:defRPr sz="1300">
                <a:solidFill>
                  <a:srgbClr val="CBD5E1"/>
                </a:solidFill>
              </a:defRPr>
            </a:pPr>
            <a:r>
              <a:t>Summary of deliverable assets and transition to executive question-and-answer session</a:t>
            </a:r>
          </a:p>
        </p:txBody>
      </p:sp>
      <p:sp>
        <p:nvSpPr>
          <p:cNvPr id="4" name="Rounded Rectangle 3"/>
          <p:cNvSpPr/>
          <p:nvPr/>
        </p:nvSpPr>
        <p:spPr>
          <a:xfrm>
            <a:off x="731520" y="1828800"/>
            <a:ext cx="5120640" cy="4389120"/>
          </a:xfrm>
          <a:prstGeom prst="roundRect">
            <a:avLst/>
          </a:prstGeom>
          <a:solidFill>
            <a:srgbClr val="103642"/>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200" b="1">
                <a:solidFill>
                  <a:srgbClr val="06B6D4"/>
                </a:solidFill>
              </a:defRPr>
            </a:pPr>
            <a:r>
              <a:t>CORE DELIVERABLES COMMITTED &amp; PUSHED</a:t>
            </a:r>
          </a:p>
          <a:p>
            <a:pPr>
              <a:spcAft>
                <a:spcPts val="800"/>
              </a:spcAft>
              <a:defRPr sz="1100">
                <a:solidFill>
                  <a:srgbClr val="FFFFFF"/>
                </a:solidFill>
              </a:defRPr>
            </a:pPr>
            <a:r>
              <a:t>1. Canonical FastAPI Python Engine (118 tests, 96.22% coverage)</a:t>
            </a:r>
          </a:p>
          <a:p>
            <a:pPr>
              <a:spcAft>
                <a:spcPts val="800"/>
              </a:spcAft>
              <a:defRPr sz="1100">
                <a:solidFill>
                  <a:srgbClr val="FFFFFF"/>
                </a:solidFill>
              </a:defRPr>
            </a:pPr>
            <a:r>
              <a:t>2. Centralized Patient Operations Dashboard (800 global cohort)</a:t>
            </a:r>
          </a:p>
          <a:p>
            <a:pPr>
              <a:spcAft>
                <a:spcPts val="800"/>
              </a:spcAft>
              <a:defRPr sz="1100">
                <a:solidFill>
                  <a:srgbClr val="FFFFFF"/>
                </a:solidFill>
              </a:defRPr>
            </a:pPr>
            <a:r>
              <a:t>3. 1080p Narrated Demo Video (cgt_patient_to_batch_orchestration_demo.mp4)</a:t>
            </a:r>
          </a:p>
          <a:p>
            <a:pPr>
              <a:spcAft>
                <a:spcPts val="800"/>
              </a:spcAft>
              <a:defRPr sz="1100">
                <a:solidFill>
                  <a:srgbClr val="FFFFFF"/>
                </a:solidFill>
              </a:defRPr>
            </a:pPr>
            <a:r>
              <a:t>4. Synchronized Subtitles (.srt and .vtt) &amp; Visual Slide Frames</a:t>
            </a:r>
          </a:p>
          <a:p>
            <a:pPr>
              <a:spcAft>
                <a:spcPts val="800"/>
              </a:spcAft>
              <a:defRPr sz="1100">
                <a:solidFill>
                  <a:srgbClr val="FFFFFF"/>
                </a:solidFill>
              </a:defRPr>
            </a:pPr>
            <a:r>
              <a:t>5. Complete 21-Stage Artifact Register (185 tracked artifacts)</a:t>
            </a:r>
          </a:p>
          <a:p>
            <a:pPr>
              <a:spcAft>
                <a:spcPts val="800"/>
              </a:spcAft>
              <a:defRPr sz="1100">
                <a:solidFill>
                  <a:srgbClr val="FFFFFF"/>
                </a:solidFill>
              </a:defRPr>
            </a:pPr>
            <a:r>
              <a:t>6. Master Executive Presentation Deck (.pptx) &amp; Speaker Guide</a:t>
            </a:r>
          </a:p>
          <a:p>
            <a:pPr>
              <a:spcAft>
                <a:spcPts val="800"/>
              </a:spcAft>
              <a:defRPr sz="1100">
                <a:solidFill>
                  <a:srgbClr val="FFFFFF"/>
                </a:solidFill>
              </a:defRPr>
            </a:pPr>
            <a:r>
              <a:t>7. Green GitHub Actions CI Verification Pipeline on main</a:t>
            </a:r>
          </a:p>
        </p:txBody>
      </p:sp>
      <p:sp>
        <p:nvSpPr>
          <p:cNvPr id="5" name="Rounded Rectangle 4"/>
          <p:cNvSpPr/>
          <p:nvPr/>
        </p:nvSpPr>
        <p:spPr>
          <a:xfrm>
            <a:off x="6217920" y="1828800"/>
            <a:ext cx="5212080" cy="4389120"/>
          </a:xfrm>
          <a:prstGeom prst="roundRect">
            <a:avLst/>
          </a:prstGeom>
          <a:solidFill>
            <a:srgbClr val="103642"/>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200" b="1">
                <a:solidFill>
                  <a:srgbClr val="0D9488"/>
                </a:solidFill>
              </a:defRPr>
            </a:pPr>
            <a:r>
              <a:t>THE GOVERNING AXIOM</a:t>
            </a:r>
          </a:p>
          <a:p>
            <a:pPr>
              <a:spcAft>
                <a:spcPts val="2000"/>
              </a:spcAft>
              <a:defRPr sz="2000" b="1">
                <a:solidFill>
                  <a:srgbClr val="FFFFFF"/>
                </a:solidFill>
              </a:defRPr>
            </a:pPr>
            <a:r>
              <a:t>"Evidence before status, and human authority before automation."</a:t>
            </a:r>
          </a:p>
          <a:p>
            <a:pPr>
              <a:defRPr sz="1300">
                <a:solidFill>
                  <a:srgbClr val="CBD5E1"/>
                </a:solidFill>
              </a:defRPr>
            </a:pPr>
            <a:r>
              <a:t>Thank you for your time, leadership, and partnership.</a:t>
            </a:r>
            <a:br/>
            <a:br/>
            <a:r>
              <a:t>We now invite questions and discussion from the Steering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